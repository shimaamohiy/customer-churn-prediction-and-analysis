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8BAF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AF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Logistic Regression</c:v>
                  </c:pt>
                  <c:pt idx="1">
                    <c:v>Gradient Boosting</c:v>
                  </c:pt>
                  <c:pt idx="2">
                    <c:v>Random Forest</c:v>
                  </c:pt>
                  <c:pt idx="3">
                    <c:v>LightGBM Base</c:v>
                  </c:pt>
                  <c:pt idx="4">
                    <c:v>LightGBM Tuned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91.4</c:v>
                </c:pt>
                <c:pt idx="1">
                  <c:v>98.93</c:v>
                </c:pt>
                <c:pt idx="2">
                  <c:v>98.99</c:v>
                </c:pt>
                <c:pt idx="3">
                  <c:v>99.2</c:v>
                </c:pt>
                <c:pt idx="4">
                  <c:v>99.26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F4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b"/>
        <c:majorGridlines>
          <c:spPr>
            <a:ln w="12700" cap="flat">
              <a:solidFill>
                <a:srgbClr val="1B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-1097280"/>
            <a:ext cx="4114800" cy="4114800"/>
          </a:xfrm>
          <a:prstGeom prst="ellipse">
            <a:avLst/>
          </a:prstGeom>
          <a:solidFill>
            <a:srgbClr val="00C9A7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A855F7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144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KKBox · 2017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</a:rPr>
              <a:t>Customer Churn</a:t>
            </a:r>
            <a:endParaRPr lang="en-US" sz="5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</a:rPr>
              <a:t>Prediction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9A7"/>
                </a:solidFill>
              </a:rPr>
              <a:t>End-to-End CRISP-DM Machine Learning Project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FC9"/>
                </a:solidFill>
              </a:rPr>
              <a:t>Identifying at-risk subscribers before they leave using advanced behavioral analysis and ensemble modeling.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3035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1B2E4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394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410M+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Log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53035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1B2E45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5394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6.7M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10896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Subscribers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53035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1B2E45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5394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99.3%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76072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ROC-AUC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53035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1B2E4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5394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95.6%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41248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Recall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064240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FC9"/>
                </a:solidFill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CRISP-DM Framework — 6 Phases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737360" cy="2560320"/>
          </a:xfrm>
          <a:prstGeom prst="roundRect">
            <a:avLst>
              <a:gd name="adj" fmla="val 4211"/>
            </a:avLst>
          </a:prstGeom>
          <a:solidFill>
            <a:srgbClr val="1B2E45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417320"/>
            <a:ext cx="1737360" cy="73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25146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Understanding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57400" y="2651760"/>
            <a:ext cx="201168" cy="54864"/>
          </a:xfrm>
          <a:prstGeom prst="rect">
            <a:avLst/>
          </a:prstGeom>
          <a:solidFill>
            <a:srgbClr val="8BAFC9"/>
          </a:solidFill>
          <a:ln/>
        </p:spPr>
      </p:sp>
      <p:sp>
        <p:nvSpPr>
          <p:cNvPr id="11" name="Shape 9"/>
          <p:cNvSpPr/>
          <p:nvPr/>
        </p:nvSpPr>
        <p:spPr>
          <a:xfrm>
            <a:off x="2258568" y="1417320"/>
            <a:ext cx="1737360" cy="2560320"/>
          </a:xfrm>
          <a:prstGeom prst="roundRect">
            <a:avLst>
              <a:gd name="adj" fmla="val 4211"/>
            </a:avLst>
          </a:prstGeom>
          <a:solidFill>
            <a:srgbClr val="1B2E45"/>
          </a:solidFill>
          <a:ln/>
        </p:spPr>
      </p:sp>
      <p:sp>
        <p:nvSpPr>
          <p:cNvPr id="12" name="Shape 10"/>
          <p:cNvSpPr/>
          <p:nvPr/>
        </p:nvSpPr>
        <p:spPr>
          <a:xfrm>
            <a:off x="2258568" y="1417320"/>
            <a:ext cx="173736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2258568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58568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58568" y="25146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Understanding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95928" y="2651760"/>
            <a:ext cx="201168" cy="54864"/>
          </a:xfrm>
          <a:prstGeom prst="rect">
            <a:avLst/>
          </a:prstGeom>
          <a:solidFill>
            <a:srgbClr val="8BAFC9"/>
          </a:solidFill>
          <a:ln/>
        </p:spPr>
      </p:sp>
      <p:sp>
        <p:nvSpPr>
          <p:cNvPr id="17" name="Shape 15"/>
          <p:cNvSpPr/>
          <p:nvPr/>
        </p:nvSpPr>
        <p:spPr>
          <a:xfrm>
            <a:off x="4197096" y="1417320"/>
            <a:ext cx="1737360" cy="2560320"/>
          </a:xfrm>
          <a:prstGeom prst="roundRect">
            <a:avLst>
              <a:gd name="adj" fmla="val 4211"/>
            </a:avLst>
          </a:prstGeom>
          <a:solidFill>
            <a:srgbClr val="1B2E45"/>
          </a:solidFill>
          <a:ln/>
        </p:spPr>
      </p:sp>
      <p:sp>
        <p:nvSpPr>
          <p:cNvPr id="18" name="Shape 16"/>
          <p:cNvSpPr/>
          <p:nvPr/>
        </p:nvSpPr>
        <p:spPr>
          <a:xfrm>
            <a:off x="4197096" y="1417320"/>
            <a:ext cx="173736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9" name="Text 17"/>
          <p:cNvSpPr/>
          <p:nvPr/>
        </p:nvSpPr>
        <p:spPr>
          <a:xfrm>
            <a:off x="4197096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97096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197096" y="25146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Preparation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34456" y="2651760"/>
            <a:ext cx="201168" cy="54864"/>
          </a:xfrm>
          <a:prstGeom prst="rect">
            <a:avLst/>
          </a:prstGeom>
          <a:solidFill>
            <a:srgbClr val="8BAFC9"/>
          </a:solidFill>
          <a:ln/>
        </p:spPr>
      </p:sp>
      <p:sp>
        <p:nvSpPr>
          <p:cNvPr id="23" name="Shape 21"/>
          <p:cNvSpPr/>
          <p:nvPr/>
        </p:nvSpPr>
        <p:spPr>
          <a:xfrm>
            <a:off x="6135624" y="1417320"/>
            <a:ext cx="1737360" cy="2560320"/>
          </a:xfrm>
          <a:prstGeom prst="roundRect">
            <a:avLst>
              <a:gd name="adj" fmla="val 4211"/>
            </a:avLst>
          </a:prstGeom>
          <a:solidFill>
            <a:srgbClr val="1B2E45"/>
          </a:solidFill>
          <a:ln/>
        </p:spPr>
      </p:sp>
      <p:sp>
        <p:nvSpPr>
          <p:cNvPr id="24" name="Shape 22"/>
          <p:cNvSpPr/>
          <p:nvPr/>
        </p:nvSpPr>
        <p:spPr>
          <a:xfrm>
            <a:off x="6135624" y="1417320"/>
            <a:ext cx="1737360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6135624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35624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135624" y="25146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72984" y="2651760"/>
            <a:ext cx="201168" cy="54864"/>
          </a:xfrm>
          <a:prstGeom prst="rect">
            <a:avLst/>
          </a:prstGeom>
          <a:solidFill>
            <a:srgbClr val="8BAFC9"/>
          </a:solidFill>
          <a:ln/>
        </p:spPr>
      </p:sp>
      <p:sp>
        <p:nvSpPr>
          <p:cNvPr id="29" name="Shape 27"/>
          <p:cNvSpPr/>
          <p:nvPr/>
        </p:nvSpPr>
        <p:spPr>
          <a:xfrm>
            <a:off x="8074152" y="1417320"/>
            <a:ext cx="1737360" cy="2560320"/>
          </a:xfrm>
          <a:prstGeom prst="roundRect">
            <a:avLst>
              <a:gd name="adj" fmla="val 4211"/>
            </a:avLst>
          </a:prstGeom>
          <a:solidFill>
            <a:srgbClr val="1B2E45"/>
          </a:solidFill>
          <a:ln/>
        </p:spPr>
      </p:sp>
      <p:sp>
        <p:nvSpPr>
          <p:cNvPr id="30" name="Shape 28"/>
          <p:cNvSpPr/>
          <p:nvPr/>
        </p:nvSpPr>
        <p:spPr>
          <a:xfrm>
            <a:off x="8074152" y="1417320"/>
            <a:ext cx="173736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8074152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74152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074152" y="25146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811512" y="2651760"/>
            <a:ext cx="201168" cy="54864"/>
          </a:xfrm>
          <a:prstGeom prst="rect">
            <a:avLst/>
          </a:prstGeom>
          <a:solidFill>
            <a:srgbClr val="8BAFC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12680" y="1417320"/>
            <a:ext cx="1737360" cy="2560320"/>
          </a:xfrm>
          <a:prstGeom prst="roundRect">
            <a:avLst>
              <a:gd name="adj" fmla="val 4211"/>
            </a:avLst>
          </a:prstGeom>
          <a:solidFill>
            <a:srgbClr val="1B2E45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12680" y="1417320"/>
            <a:ext cx="173736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7" name="Text 35"/>
          <p:cNvSpPr/>
          <p:nvPr/>
        </p:nvSpPr>
        <p:spPr>
          <a:xfrm>
            <a:off x="1001268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1268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0012680" y="25146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0040" y="4251960"/>
            <a:ext cx="11247120" cy="2148840"/>
          </a:xfrm>
          <a:prstGeom prst="roundRect">
            <a:avLst>
              <a:gd name="adj" fmla="val 3404"/>
            </a:avLst>
          </a:prstGeom>
          <a:solidFill>
            <a:srgbClr val="152638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389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🎯  Business Goal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" y="4846320"/>
            <a:ext cx="6858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FC9"/>
                </a:solidFill>
              </a:rPr>
              <a:t>KKBox operates on a subscription model. Every churned user directly impacts Monthly Recurring Revenue (MRR). The goal is to predict — 30 days in advance — whether a user will renew their subscription, so retention campaigns can be triggered proactively.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772400" y="43891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0D2A1E"/>
          </a:solidFill>
          <a:ln/>
        </p:spPr>
      </p:sp>
      <p:sp>
        <p:nvSpPr>
          <p:cNvPr id="44" name="Text 42"/>
          <p:cNvSpPr/>
          <p:nvPr/>
        </p:nvSpPr>
        <p:spPr>
          <a:xfrm>
            <a:off x="7863840" y="4526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💰  Business Impact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863840" y="4937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FC9"/>
                </a:solidFill>
              </a:rPr>
              <a:t>Proactive retention is 5-7× cheaper than acquiring a new subscriber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064240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FC9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Phase 2: Data Understanding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3 data sources · 450M+ records · 30GB+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3749040" cy="5029200"/>
          </a:xfrm>
          <a:prstGeom prst="roundRect">
            <a:avLst>
              <a:gd name="adj" fmla="val 1951"/>
            </a:avLst>
          </a:prstGeom>
          <a:solidFill>
            <a:srgbClr val="15263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371600"/>
            <a:ext cx="3749040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👤  Members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6.7M users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FC9"/>
                </a:solidFill>
              </a:rPr>
              <a:t>Key Columns: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163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22783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638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bd (age)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575304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112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gender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922776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587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registered_via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270248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206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registration_init_time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93776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2A151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9560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⚠  67% missing age · 65% missing gender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1371600"/>
            <a:ext cx="3749040" cy="5029200"/>
          </a:xfrm>
          <a:prstGeom prst="roundRect">
            <a:avLst>
              <a:gd name="adj" fmla="val 1951"/>
            </a:avLst>
          </a:prstGeom>
          <a:solidFill>
            <a:srgbClr val="152638"/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1371600"/>
            <a:ext cx="374904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💳  Transactions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34840" y="201168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2011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22.9M rows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FC9"/>
                </a:solidFill>
              </a:rPr>
              <a:t>Key Columns: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2880360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8163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payment_plan_days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3227832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1638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plan_list_price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80560" y="3575304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35112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actual_amount_paid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80560" y="3922776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8587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is_auto_renew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480560" y="4270248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4206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is_cancel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34840" y="493776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2A1515"/>
          </a:solidFill>
          <a:ln/>
        </p:spPr>
      </p:sp>
      <p:sp>
        <p:nvSpPr>
          <p:cNvPr id="40" name="Text 38"/>
          <p:cNvSpPr/>
          <p:nvPr/>
        </p:nvSpPr>
        <p:spPr>
          <a:xfrm>
            <a:off x="4480560" y="49560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⚠  3.8% zero plan days · invalid expire dates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75320" y="1371600"/>
            <a:ext cx="3749040" cy="5029200"/>
          </a:xfrm>
          <a:prstGeom prst="roundRect">
            <a:avLst>
              <a:gd name="adj" fmla="val 1951"/>
            </a:avLst>
          </a:prstGeom>
          <a:solidFill>
            <a:srgbClr val="152638"/>
          </a:solidFill>
          <a:ln/>
        </p:spPr>
      </p:sp>
      <p:sp>
        <p:nvSpPr>
          <p:cNvPr id="42" name="Shape 40"/>
          <p:cNvSpPr/>
          <p:nvPr/>
        </p:nvSpPr>
        <p:spPr>
          <a:xfrm>
            <a:off x="8275320" y="1371600"/>
            <a:ext cx="374904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🎵  User Logs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12480" y="201168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D1B2A"/>
          </a:solidFill>
          <a:ln/>
        </p:spPr>
      </p:sp>
      <p:sp>
        <p:nvSpPr>
          <p:cNvPr id="45" name="Text 43"/>
          <p:cNvSpPr/>
          <p:nvPr/>
        </p:nvSpPr>
        <p:spPr>
          <a:xfrm>
            <a:off x="8412480" y="2011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410M+ rows · 27.5GB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1248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FC9"/>
                </a:solidFill>
              </a:rPr>
              <a:t>Key Columns: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58200" y="2880360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8" name="Text 46"/>
          <p:cNvSpPr/>
          <p:nvPr/>
        </p:nvSpPr>
        <p:spPr>
          <a:xfrm>
            <a:off x="8641080" y="28163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num_25/50/75/985/100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458200" y="322783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0" name="Text 48"/>
          <p:cNvSpPr/>
          <p:nvPr/>
        </p:nvSpPr>
        <p:spPr>
          <a:xfrm>
            <a:off x="8641080" y="31638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num_unq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458200" y="3575304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2" name="Text 50"/>
          <p:cNvSpPr/>
          <p:nvPr/>
        </p:nvSpPr>
        <p:spPr>
          <a:xfrm>
            <a:off x="8641080" y="35112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total_secs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458200" y="3922776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4" name="Text 52"/>
          <p:cNvSpPr/>
          <p:nvPr/>
        </p:nvSpPr>
        <p:spPr>
          <a:xfrm>
            <a:off x="8641080" y="38587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date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412480" y="493776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2A1515"/>
          </a:solidFill>
          <a:ln/>
        </p:spPr>
      </p:sp>
      <p:sp>
        <p:nvSpPr>
          <p:cNvPr id="56" name="Text 54"/>
          <p:cNvSpPr/>
          <p:nvPr/>
        </p:nvSpPr>
        <p:spPr>
          <a:xfrm>
            <a:off x="8458200" y="49560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⚠  28.87% impossible values · negative secs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0040" y="6446520"/>
            <a:ext cx="11247120" cy="0"/>
          </a:xfrm>
          <a:prstGeom prst="roundRect">
            <a:avLst>
              <a:gd name="adj" fmla="val Infinity"/>
            </a:avLst>
          </a:prstGeom>
          <a:solidFill>
            <a:srgbClr val="1B2E45"/>
          </a:solidFill>
          <a:ln/>
        </p:spPr>
      </p:sp>
      <p:sp>
        <p:nvSpPr>
          <p:cNvPr id="58" name="Text 56"/>
          <p:cNvSpPr/>
          <p:nvPr/>
        </p:nvSpPr>
        <p:spPr>
          <a:xfrm>
            <a:off x="11064240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FC9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Challenges Faced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Three critical obstacles — and how we solved them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1247120" cy="1554480"/>
          </a:xfrm>
          <a:prstGeom prst="roundRect">
            <a:avLst>
              <a:gd name="adj" fmla="val 4706"/>
            </a:avLst>
          </a:prstGeom>
          <a:solidFill>
            <a:srgbClr val="15263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417320"/>
            <a:ext cx="73152" cy="1554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</a:rPr>
              <a:t>💾  Memory Crashes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FC9"/>
                </a:solidFill>
              </a:rPr>
              <a:t>Problem: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98424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 logs contained 410M+ rows (27.5 GB). Loading them entirely caused immediate MemoryError on standard machines.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7432" cy="109728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✅  Solution: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Chunked loading (1M rows at a time) with early user &amp; date filtering. Dtype downcasting from int64 → int16 saved ~19 GB of RAM.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11247120" cy="1554480"/>
          </a:xfrm>
          <a:prstGeom prst="roundRect">
            <a:avLst>
              <a:gd name="adj" fmla="val 4706"/>
            </a:avLst>
          </a:prstGeom>
          <a:solidFill>
            <a:srgbClr val="152638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3108960"/>
            <a:ext cx="73152" cy="15544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🧹  Extreme Data Quality Issues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FC9"/>
                </a:solidFill>
              </a:rPr>
              <a:t>Problem: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67588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Ages of -7,168 and 2,016. Expire dates in 1970 and 2036. 28.87% impossible log values (num_100 &gt; num_unq). 65-67% missing demographics.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3337560"/>
            <a:ext cx="27432" cy="109728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✅  Solution: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611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Per-column validation masks. Invalid ages → NaN. Expire dates filtered to 2015–2020. Missing gender → 'Unknown' category (preserves signal).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800600"/>
            <a:ext cx="11247120" cy="1554480"/>
          </a:xfrm>
          <a:prstGeom prst="roundRect">
            <a:avLst>
              <a:gd name="adj" fmla="val 4706"/>
            </a:avLst>
          </a:prstGeom>
          <a:solidFill>
            <a:srgbClr val="152638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4800600"/>
            <a:ext cx="73152" cy="15544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937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🔒  Data Leakage Risk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FC9"/>
                </a:solidFill>
              </a:rPr>
              <a:t>Problem: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17320" y="536752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Using absolute transaction dates from the evaluation period would give the model 'future' knowledge, artificially inflating performance.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5029200"/>
            <a:ext cx="27432" cy="109728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4937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✅  Solution: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53035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Dropped raw dates from final features. Used only relative durations, frequency counts, and time-windowed aggregations (last 15/30 days).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FC9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Phase 3: Data Cleaning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087"/>
                </a:solidFill>
              </a:rPr>
              <a:t>Systematic quality fixes across all 3 datasets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💳 Transactions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55648"/>
            <a:ext cx="3657600" cy="274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920240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199339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99339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REMOVE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payment_plan_days =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359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Remove · 872K 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52928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292608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3063240" y="29260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REMOVE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9169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expire date &lt; 2015 or &gt; 2020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2918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Remove · 10.7K rows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85616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85876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385876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REMOVE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8496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price = 0 &amp; amount &gt; 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2245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Remove (impossible) · 859K rows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718304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4791456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</p:sp>
      <p:sp>
        <p:nvSpPr>
          <p:cNvPr id="24" name="Text 22"/>
          <p:cNvSpPr/>
          <p:nvPr/>
        </p:nvSpPr>
        <p:spPr>
          <a:xfrm>
            <a:off x="30632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FIX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47823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plan_list_price outliers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51572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Cap at 99th pct · 366K rows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5650992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3240" y="572414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</p:sp>
      <p:sp>
        <p:nvSpPr>
          <p:cNvPr id="29" name="Text 27"/>
          <p:cNvSpPr/>
          <p:nvPr/>
        </p:nvSpPr>
        <p:spPr>
          <a:xfrm>
            <a:off x="3063240" y="572414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FIX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1480" y="5715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Convert date columns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60899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int → datetime · 2 cols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👤 Members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97680" y="1755648"/>
            <a:ext cx="3657600" cy="2743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4" name="Shape 32"/>
          <p:cNvSpPr/>
          <p:nvPr/>
        </p:nvSpPr>
        <p:spPr>
          <a:xfrm>
            <a:off x="4297680" y="1920240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199339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0" y="199339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FIX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89120" y="19842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bd (age) ≤ 0 or &gt; 100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0" y="2359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Set to NaN · 5,651 rows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2852928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40880" y="292608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66BB6A"/>
          </a:solidFill>
          <a:ln/>
        </p:spPr>
      </p:sp>
      <p:sp>
        <p:nvSpPr>
          <p:cNvPr id="41" name="Text 39"/>
          <p:cNvSpPr/>
          <p:nvPr/>
        </p:nvSpPr>
        <p:spPr>
          <a:xfrm>
            <a:off x="7040880" y="29260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KEEP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89120" y="29169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registered_via = -1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89120" y="32918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Remove · 0 rows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97680" y="3785616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40880" y="385876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</p:sp>
      <p:sp>
        <p:nvSpPr>
          <p:cNvPr id="46" name="Text 44"/>
          <p:cNvSpPr/>
          <p:nvPr/>
        </p:nvSpPr>
        <p:spPr>
          <a:xfrm>
            <a:off x="7040880" y="385876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FIX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389120" y="38496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gender missing (65%)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389120" y="42245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Fill → 'Unknown' · 4.4M rows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97680" y="4718304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40880" y="4791456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</p:sp>
      <p:sp>
        <p:nvSpPr>
          <p:cNvPr id="51" name="Text 49"/>
          <p:cNvSpPr/>
          <p:nvPr/>
        </p:nvSpPr>
        <p:spPr>
          <a:xfrm>
            <a:off x="704088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FIX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389120" y="47823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registration_init_time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389120" y="51572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int → datetime · 1 col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27532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🎵 User Logs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275320" y="1755648"/>
            <a:ext cx="3657600" cy="27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6" name="Shape 54"/>
          <p:cNvSpPr/>
          <p:nvPr/>
        </p:nvSpPr>
        <p:spPr>
          <a:xfrm>
            <a:off x="8275320" y="1920240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18520" y="199339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6B6B"/>
          </a:solidFill>
          <a:ln/>
        </p:spPr>
      </p:sp>
      <p:sp>
        <p:nvSpPr>
          <p:cNvPr id="58" name="Text 56"/>
          <p:cNvSpPr/>
          <p:nvPr/>
        </p:nvSpPr>
        <p:spPr>
          <a:xfrm>
            <a:off x="11018520" y="199339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REMOVE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366760" y="19842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total_secs ≤ 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366760" y="2359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Remove · 61K rows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275320" y="2852928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018520" y="292608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</p:sp>
      <p:sp>
        <p:nvSpPr>
          <p:cNvPr id="63" name="Text 61"/>
          <p:cNvSpPr/>
          <p:nvPr/>
        </p:nvSpPr>
        <p:spPr>
          <a:xfrm>
            <a:off x="11018520" y="29260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FIX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366760" y="29169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total_secs &gt; 86,400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366760" y="32918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Cap at 86,400 · 147K rows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275320" y="3785616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018520" y="385876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</p:sp>
      <p:sp>
        <p:nvSpPr>
          <p:cNvPr id="68" name="Text 66"/>
          <p:cNvSpPr/>
          <p:nvPr/>
        </p:nvSpPr>
        <p:spPr>
          <a:xfrm>
            <a:off x="11018520" y="385876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FIX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366760" y="38496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Play col outliers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366760" y="42245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Cap at 99th pct (from sample) · ~1% each col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275320" y="4718304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018520" y="4791456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66BB6A"/>
          </a:solidFill>
          <a:ln/>
        </p:spPr>
      </p:sp>
      <p:sp>
        <p:nvSpPr>
          <p:cNvPr id="73" name="Text 71"/>
          <p:cNvSpPr/>
          <p:nvPr/>
        </p:nvSpPr>
        <p:spPr>
          <a:xfrm>
            <a:off x="1101852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KEEP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366760" y="47823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num_100 &gt; num_unq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366760" y="51572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Keep — is replay behavior · 118M rows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275320" y="5650992"/>
            <a:ext cx="37490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018520" y="572414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</p:sp>
      <p:sp>
        <p:nvSpPr>
          <p:cNvPr id="78" name="Text 76"/>
          <p:cNvSpPr/>
          <p:nvPr/>
        </p:nvSpPr>
        <p:spPr>
          <a:xfrm>
            <a:off x="11018520" y="572414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FIX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366760" y="5715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Duplicate (msno + date)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366760" y="60899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Drop, keep last · dedup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1064240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FC9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Phase 3: 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Transforming raw data into predictive signals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7132320" cy="1645920"/>
          </a:xfrm>
          <a:prstGeom prst="roundRect">
            <a:avLst>
              <a:gd name="adj" fmla="val 4444"/>
            </a:avLst>
          </a:prstGeom>
          <a:solidFill>
            <a:srgbClr val="1526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📅 Transaction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75104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019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Total transactions per user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311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% transactions with is_auto_renew 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% transactions with is_cancel =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1975104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19019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Last plan duration (payment_plan_days)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0" y="2304288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22311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Discount = list_price − amount_paid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2633472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2560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Churn rate from transaction history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7132320" cy="1645920"/>
          </a:xfrm>
          <a:prstGeom prst="roundRect">
            <a:avLst>
              <a:gd name="adj" fmla="val 4444"/>
            </a:avLst>
          </a:prstGeom>
          <a:solidFill>
            <a:srgbClr val="15263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🎵 Behavioral Features (Time Windows)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758184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850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sum / mean / std of num_100 → last 15d, 30d, all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87368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142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sum / mean / std of total_secs → last 15d, 30d, all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1655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43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completion_rate = num_100 / num_unq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31920" y="3758184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0" y="36850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replay_rate = (num_100 − num_unq) / (num_unq + 1)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31920" y="4087368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0" y="40142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Days active in last 15 / 30 days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931920" y="441655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4343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Engagement trend (recent vs older activity)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937760"/>
            <a:ext cx="7132320" cy="1645920"/>
          </a:xfrm>
          <a:prstGeom prst="roundRect">
            <a:avLst>
              <a:gd name="adj" fmla="val 4444"/>
            </a:avLst>
          </a:prstGeom>
          <a:solidFill>
            <a:srgbClr val="152638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029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👤 Membership Features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5541264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54681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tenure = expire_date − registration_date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870448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7972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registration year / month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619963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6126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city (categorical)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931920" y="5541264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0" y="54681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registered_via (categorical)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31920" y="5870448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0" y="57972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age bins after cleaning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680960" y="137160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1B2E45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32104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Time Windows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772400" y="19659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Features extracted from last 15 days vs last 30 days reveal engagement trends — the most powerful churn signal.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680960" y="315468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1B2E45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832104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Replay Rate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772400" y="37490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num_100 &gt; num_unq isn't an error. It means the user replays songs — a strong engagement indicator.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680960" y="493776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1B2E45"/>
          </a:solidFill>
          <a:ln/>
        </p:spPr>
      </p:sp>
      <p:sp>
        <p:nvSpPr>
          <p:cNvPr id="54" name="Text 52"/>
          <p:cNvSpPr/>
          <p:nvPr/>
        </p:nvSpPr>
        <p:spPr>
          <a:xfrm>
            <a:off x="7772400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8321040" y="5074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</a:rPr>
              <a:t>Category Types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772400" y="55321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All categorical columns converted to Pandas 'category' dtype — enables LightGBM native splits without One-Hot Encoding.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064240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FC9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Phase 4: Modeling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4 algorithms tested under strict validation conditions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526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 / Test Split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Strict split ensuring zero user overlap between train and test sets to prevent data leakage.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52638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148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 Imbalance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606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Set is_unbalance=True in LightGBM. Only 6% of users churn — imbalance must be addressed.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52638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148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Hyperparameter Tuning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RandomizedSearchCV on LightGBM: learning_rate, max_depth, num_leaves, n_estimators.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1417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52638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544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2148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 Metric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0" y="2606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ROC-AUC as primary metric. Recall prioritized for business alignment.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Models Tested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0040" y="411480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1B2E4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06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FC9"/>
                </a:solidFill>
              </a:rPr>
              <a:t>Baseline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411480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1B2E45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4206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Ensemble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4526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411480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1B2E45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206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Ensemble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4526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Gradient Boosting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098280" y="411480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1B2E45"/>
          </a:solidFill>
          <a:ln/>
        </p:spPr>
      </p:sp>
      <p:sp>
        <p:nvSpPr>
          <p:cNvPr id="36" name="Text 34"/>
          <p:cNvSpPr/>
          <p:nvPr/>
        </p:nvSpPr>
        <p:spPr>
          <a:xfrm>
            <a:off x="9235440" y="4206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🏆 Champion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35440" y="4526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LightGBM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0040" y="553212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152638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5623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⚡  Why LightGBM?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2920" y="6172200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6108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Fastest training on large tabular data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37560" y="6172200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3" name="Text 41"/>
          <p:cNvSpPr/>
          <p:nvPr/>
        </p:nvSpPr>
        <p:spPr>
          <a:xfrm>
            <a:off x="3520440" y="6108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Native categorical feature support — no One-Hot Encoding needed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72200" y="6172200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6108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Highest ROC-AUC &amp; Recall among all tested models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006840" y="6172200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7" name="Text 45"/>
          <p:cNvSpPr/>
          <p:nvPr/>
        </p:nvSpPr>
        <p:spPr>
          <a:xfrm>
            <a:off x="9189720" y="6108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Built-in class imbalance handling via is_unbalance=True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064240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FC9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Phase 5: Model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Performance Leaderboard — ROC-AUC Score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37160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37160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152638"/>
          </a:solidFill>
          <a:ln/>
        </p:spPr>
      </p:sp>
      <p:sp>
        <p:nvSpPr>
          <p:cNvPr id="7" name="Shape 4"/>
          <p:cNvSpPr/>
          <p:nvPr/>
        </p:nvSpPr>
        <p:spPr>
          <a:xfrm>
            <a:off x="7406640" y="1371600"/>
            <a:ext cx="64008" cy="1325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0" y="1508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FC9"/>
                </a:solidFill>
              </a:rPr>
              <a:t>ROC-AUC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0" y="1828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9A7"/>
                </a:solidFill>
              </a:rPr>
              <a:t>99.26%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589520" y="23774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LightGBM Tuned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06640" y="288036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152638"/>
          </a:solidFill>
          <a:ln/>
        </p:spPr>
      </p:sp>
      <p:sp>
        <p:nvSpPr>
          <p:cNvPr id="12" name="Shape 9"/>
          <p:cNvSpPr/>
          <p:nvPr/>
        </p:nvSpPr>
        <p:spPr>
          <a:xfrm>
            <a:off x="7406640" y="2880360"/>
            <a:ext cx="64008" cy="13258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0" y="3017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FC9"/>
                </a:solidFill>
              </a:rPr>
              <a:t>Recall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89520" y="3337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C3F7"/>
                </a:solidFill>
              </a:rPr>
              <a:t>95.6%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7589520" y="38862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True Churners Caught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06640" y="438912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152638"/>
          </a:solidFill>
          <a:ln/>
        </p:spPr>
      </p:sp>
      <p:sp>
        <p:nvSpPr>
          <p:cNvPr id="17" name="Shape 14"/>
          <p:cNvSpPr/>
          <p:nvPr/>
        </p:nvSpPr>
        <p:spPr>
          <a:xfrm>
            <a:off x="7406640" y="4389120"/>
            <a:ext cx="64008" cy="13258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8" name="Text 15"/>
          <p:cNvSpPr/>
          <p:nvPr/>
        </p:nvSpPr>
        <p:spPr>
          <a:xfrm>
            <a:off x="7589520" y="4526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FC9"/>
                </a:solidFill>
              </a:rPr>
              <a:t>Precision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89520" y="48463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166"/>
                </a:solidFill>
              </a:rPr>
              <a:t>53.6%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589520" y="53949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Of flagged users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06640" y="5989320"/>
            <a:ext cx="4434840" cy="640080"/>
          </a:xfrm>
          <a:prstGeom prst="roundRect">
            <a:avLst>
              <a:gd name="adj" fmla="val 11429"/>
            </a:avLst>
          </a:prstGeom>
          <a:solidFill>
            <a:srgbClr val="0D2A1E"/>
          </a:solidFill>
          <a:ln/>
        </p:spPr>
      </p:sp>
      <p:sp>
        <p:nvSpPr>
          <p:cNvPr id="22" name="Text 19"/>
          <p:cNvSpPr/>
          <p:nvPr/>
        </p:nvSpPr>
        <p:spPr>
          <a:xfrm>
            <a:off x="7498080" y="6035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📈  Tuning Gain: +0.06% ROC-AUC over base LightGBM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064240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FC9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Phase 5: Business Evaluation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Why Recall matters more than Precision in this context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5669280" cy="2057400"/>
          </a:xfrm>
          <a:prstGeom prst="roundRect">
            <a:avLst>
              <a:gd name="adj" fmla="val 3556"/>
            </a:avLst>
          </a:prstGeom>
          <a:solidFill>
            <a:srgbClr val="15263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417320"/>
            <a:ext cx="64008" cy="20574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✅  True Positive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Predicted churn · Actually churned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Business Impact: Perfect — we intervened and saved them!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669280" cy="2057400"/>
          </a:xfrm>
          <a:prstGeom prst="roundRect">
            <a:avLst>
              <a:gd name="adj" fmla="val 3556"/>
            </a:avLst>
          </a:prstGeom>
          <a:solidFill>
            <a:srgbClr val="15263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417320"/>
            <a:ext cx="64008" cy="20574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5544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⚠️  False Positive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Predicted churn · Actually stayed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3774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42316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Business Impact: We gave a discount to a loyal user — small cost, boosts satisfaction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5669280" cy="2057400"/>
          </a:xfrm>
          <a:prstGeom prst="roundRect">
            <a:avLst>
              <a:gd name="adj" fmla="val 3556"/>
            </a:avLst>
          </a:prstGeom>
          <a:solidFill>
            <a:srgbClr val="152638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749040"/>
            <a:ext cx="64008" cy="2057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86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</a:rPr>
              <a:t>❌  False Negative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4343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Predicted stay · Actually churned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75488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Business Impact: WORST CASE — lost revenue forever, no chance to intervene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5669280" cy="2057400"/>
          </a:xfrm>
          <a:prstGeom prst="roundRect">
            <a:avLst>
              <a:gd name="adj" fmla="val 3556"/>
            </a:avLst>
          </a:prstGeom>
          <a:solidFill>
            <a:srgbClr val="152638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3749040"/>
            <a:ext cx="64008" cy="2057400"/>
          </a:xfrm>
          <a:prstGeom prst="rect">
            <a:avLst/>
          </a:prstGeom>
          <a:solidFill>
            <a:srgbClr val="8BAFC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886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FC9"/>
                </a:solidFill>
              </a:rPr>
              <a:t>✅  True Negative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4343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Predicted stay · Actually stayed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47091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75488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Business Impact: Correct — no action needed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60350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0D2A1E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6099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🎯  Strategic Conclusion: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0" y="609904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Maximizing Recall (95.6%) minimizes False Negatives — the costliest error in a subscription business. The moderate Precision (53.6%) is acceptable: a misclassified loyal user simply receives a discount, reinforcing their loyalty.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064240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FC9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Phase 6: Deployment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Reproducible batch scoring pipeline — production ready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15263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2194560"/>
            <a:ext cx="594360" cy="59436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194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Data Ingestion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Raw CSVs loaded via chunked reader. Filters applied immediately to reduce memory footprint.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2432304"/>
            <a:ext cx="265176" cy="54864"/>
          </a:xfrm>
          <a:prstGeom prst="rect">
            <a:avLst/>
          </a:prstGeom>
          <a:solidFill>
            <a:srgbClr val="8BAFC9"/>
          </a:solidFill>
          <a:ln/>
        </p:spPr>
      </p:sp>
      <p:sp>
        <p:nvSpPr>
          <p:cNvPr id="12" name="Shape 10"/>
          <p:cNvSpPr/>
          <p:nvPr/>
        </p:nvSpPr>
        <p:spPr>
          <a:xfrm>
            <a:off x="3282696" y="141732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152638"/>
          </a:solidFill>
          <a:ln/>
        </p:spPr>
      </p:sp>
      <p:sp>
        <p:nvSpPr>
          <p:cNvPr id="13" name="Text 11"/>
          <p:cNvSpPr/>
          <p:nvPr/>
        </p:nvSpPr>
        <p:spPr>
          <a:xfrm>
            <a:off x="3282696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334256" y="2194560"/>
            <a:ext cx="594360" cy="5943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4334256" y="2194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19856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9856" y="34290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Same cleaning &amp; feature engineering pipeline as training. Ensures no train-test mismatch.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0176" y="2432304"/>
            <a:ext cx="265176" cy="54864"/>
          </a:xfrm>
          <a:prstGeom prst="rect">
            <a:avLst/>
          </a:prstGeom>
          <a:solidFill>
            <a:srgbClr val="8BAFC9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5352" y="141732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152638"/>
          </a:solidFill>
          <a:ln/>
        </p:spPr>
      </p:sp>
      <p:sp>
        <p:nvSpPr>
          <p:cNvPr id="20" name="Text 18"/>
          <p:cNvSpPr/>
          <p:nvPr/>
        </p:nvSpPr>
        <p:spPr>
          <a:xfrm>
            <a:off x="6245352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7296912" y="2194560"/>
            <a:ext cx="594360" cy="5943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7296912" y="2194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2512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Scoring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82512" y="34290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Saved joblib model loaded. Generates both binary prediction (0/1) and continuous Churn Probability Score.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42832" y="2432304"/>
            <a:ext cx="265176" cy="54864"/>
          </a:xfrm>
          <a:prstGeom prst="rect">
            <a:avLst/>
          </a:prstGeom>
          <a:solidFill>
            <a:srgbClr val="8BAFC9"/>
          </a:solidFill>
          <a:ln/>
        </p:spPr>
      </p:sp>
      <p:sp>
        <p:nvSpPr>
          <p:cNvPr id="26" name="Shape 24"/>
          <p:cNvSpPr/>
          <p:nvPr/>
        </p:nvSpPr>
        <p:spPr>
          <a:xfrm>
            <a:off x="9208008" y="141732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152638"/>
          </a:solidFill>
          <a:ln/>
        </p:spPr>
      </p:sp>
      <p:sp>
        <p:nvSpPr>
          <p:cNvPr id="27" name="Text 25"/>
          <p:cNvSpPr/>
          <p:nvPr/>
        </p:nvSpPr>
        <p:spPr>
          <a:xfrm>
            <a:off x="9208008" y="1554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10259568" y="2194560"/>
            <a:ext cx="594360" cy="59436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9" name="Text 27"/>
          <p:cNvSpPr/>
          <p:nvPr/>
        </p:nvSpPr>
        <p:spPr>
          <a:xfrm>
            <a:off x="10259568" y="2194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45168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Output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45168" y="34290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Results ranked by churn probability: High / Medium / Low risk tiers for the marketing team.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617720"/>
            <a:ext cx="3749040" cy="1965960"/>
          </a:xfrm>
          <a:prstGeom prst="roundRect">
            <a:avLst>
              <a:gd name="adj" fmla="val 3721"/>
            </a:avLst>
          </a:prstGeom>
          <a:solidFill>
            <a:srgbClr val="1B2E4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09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🐍  Environment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519379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1389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Python 3.11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555955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504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Docker container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592531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5870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Reproducible runs guaranteed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0" y="4617720"/>
            <a:ext cx="3749040" cy="1965960"/>
          </a:xfrm>
          <a:prstGeom prst="roundRect">
            <a:avLst>
              <a:gd name="adj" fmla="val 3721"/>
            </a:avLst>
          </a:prstGeom>
          <a:solidFill>
            <a:srgbClr val="1B2E45"/>
          </a:solidFill>
          <a:ln/>
        </p:spPr>
      </p:sp>
      <p:sp>
        <p:nvSpPr>
          <p:cNvPr id="41" name="Text 39"/>
          <p:cNvSpPr/>
          <p:nvPr/>
        </p:nvSpPr>
        <p:spPr>
          <a:xfrm>
            <a:off x="4434840" y="4709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💾  Model Storage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480560" y="519379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51389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Saved as .joblib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80560" y="555955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5504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Versioned artifacts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480560" y="592531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5870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Instant load for scoring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75320" y="4617720"/>
            <a:ext cx="3749040" cy="1965960"/>
          </a:xfrm>
          <a:prstGeom prst="roundRect">
            <a:avLst>
              <a:gd name="adj" fmla="val 3721"/>
            </a:avLst>
          </a:prstGeom>
          <a:solidFill>
            <a:srgbClr val="1B2E45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0" y="4709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📤  Output Format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458200" y="519379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1" name="Text 49"/>
          <p:cNvSpPr/>
          <p:nvPr/>
        </p:nvSpPr>
        <p:spPr>
          <a:xfrm>
            <a:off x="8641080" y="51389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is_churn: 0 or 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458200" y="555955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3" name="Text 51"/>
          <p:cNvSpPr/>
          <p:nvPr/>
        </p:nvSpPr>
        <p:spPr>
          <a:xfrm>
            <a:off x="8641080" y="5504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churn_probability: 0.0–1.0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458200" y="592531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5" name="Text 53"/>
          <p:cNvSpPr/>
          <p:nvPr/>
        </p:nvSpPr>
        <p:spPr>
          <a:xfrm>
            <a:off x="8641080" y="5870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Risk tier: High / Med / Low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1064240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FC9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9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A855F7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Summary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From raw data to a production-ready churn prediction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5263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Data Scale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Processed 410M+ log records and 22.9M transactions across multiple versioned files using memory-safe chunked pipelines.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5263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9516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Data Quality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20116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Resolved extreme outliers, impossible values, 65-67% missing demographics, and critical date inconsistencies.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35808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5263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45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172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Feature Engineering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58444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Created time-windowed behavioral features (15d, 30d), engagement trends, replay rates, and subscription tenure signals.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035808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5263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145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3172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Champion Model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358444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LightGBM (Tuned): ROC-AUC 99.26%, Recall 95.6% — identifies 19 out of 20 churners before they leave.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608576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5263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183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51560" y="474573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5157216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Batch scoring pipeline with Docker, versioned joblib artifacts, and tiered churn probability outputs for marketing teams.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608576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5263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7183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95160" y="474573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Business Value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95160" y="5157216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Enables proactive retention — 5-7× cheaper than acquisition — with personalized discounts and playlist recommendations.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621792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00C9A7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263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Precision + Scale + Business Alignment — End-to-End CRISP-DM Churn Prediction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064240" y="6492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FC9"/>
                </a:solidFill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2026-07-09T19:06:15Z</dcterms:created>
  <dcterms:modified xsi:type="dcterms:W3CDTF">2026-07-09T19:06:15Z</dcterms:modified>
</cp:coreProperties>
</file>