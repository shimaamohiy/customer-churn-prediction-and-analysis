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AF44AE-2BCC-A978-C318-67FA1BB14274}" v="48" dt="2026-07-10T18:18:14.7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8BAFC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F71-4BA3-AC09-BEE779209598}"/>
              </c:ext>
            </c:extLst>
          </c:dPt>
          <c:dPt>
            <c:idx val="1"/>
            <c:invertIfNegative val="0"/>
            <c:bubble3D val="0"/>
            <c:spPr>
              <a:solidFill>
                <a:srgbClr val="4FC3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F71-4BA3-AC09-BEE779209598}"/>
              </c:ext>
            </c:extLst>
          </c:dPt>
          <c:dPt>
            <c:idx val="2"/>
            <c:invertIfNegative val="0"/>
            <c:bubble3D val="0"/>
            <c:spPr>
              <a:solidFill>
                <a:srgbClr val="4FC3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F71-4BA3-AC09-BEE779209598}"/>
              </c:ext>
            </c:extLst>
          </c:dPt>
          <c:dPt>
            <c:idx val="3"/>
            <c:invertIfNegative val="0"/>
            <c:bubble3D val="0"/>
            <c:spPr>
              <a:solidFill>
                <a:srgbClr val="A855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F71-4BA3-AC09-BEE779209598}"/>
              </c:ext>
            </c:extLst>
          </c:dPt>
          <c:dPt>
            <c:idx val="4"/>
            <c:invertIfNegative val="0"/>
            <c:bubble3D val="0"/>
            <c:spPr>
              <a:solidFill>
                <a:srgbClr val="00C9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F71-4BA3-AC09-BEE77920959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Logistic
Regression</c:v>
                </c:pt>
                <c:pt idx="1">
                  <c:v>Gradient
Boosting</c:v>
                </c:pt>
                <c:pt idx="2">
                  <c:v>Random
Forest</c:v>
                </c:pt>
                <c:pt idx="3">
                  <c:v>LightGBM
Base</c:v>
                </c:pt>
                <c:pt idx="4">
                  <c:v>LightGBM
Tuned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91.4</c:v>
                </c:pt>
                <c:pt idx="1">
                  <c:v>98.93</c:v>
                </c:pt>
                <c:pt idx="2">
                  <c:v>98.99</c:v>
                </c:pt>
                <c:pt idx="3">
                  <c:v>99.2</c:v>
                </c:pt>
                <c:pt idx="4">
                  <c:v>99.26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F71-4BA3-AC09-BEE7792095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B3F5C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8BAFC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1"/>
          <c:min val="85"/>
        </c:scaling>
        <c:delete val="0"/>
        <c:axPos val="l"/>
        <c:majorGridlines>
          <c:spPr>
            <a:ln w="12700" cap="flat">
              <a:solidFill>
                <a:srgbClr val="1E304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AFC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B2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skip_ratio</c:v>
                </c:pt>
                <c:pt idx="1">
                  <c:v>total_transactions</c:v>
                </c:pt>
                <c:pt idx="2">
                  <c:v>account_age_days</c:v>
                </c:pt>
                <c:pt idx="3">
                  <c:v>total_actual_paid</c:v>
                </c:pt>
                <c:pt idx="4">
                  <c:v>latest_payment_method</c:v>
                </c:pt>
                <c:pt idx="5">
                  <c:v>mean_actual_paid</c:v>
                </c:pt>
                <c:pt idx="6">
                  <c:v>days_since_last_transaction</c:v>
                </c:pt>
                <c:pt idx="7">
                  <c:v>days_until_expiration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500</c:v>
                </c:pt>
                <c:pt idx="1">
                  <c:v>553</c:v>
                </c:pt>
                <c:pt idx="2">
                  <c:v>588</c:v>
                </c:pt>
                <c:pt idx="3">
                  <c:v>621</c:v>
                </c:pt>
                <c:pt idx="4">
                  <c:v>646</c:v>
                </c:pt>
                <c:pt idx="5">
                  <c:v>861</c:v>
                </c:pt>
                <c:pt idx="6">
                  <c:v>1782</c:v>
                </c:pt>
                <c:pt idx="7">
                  <c:v>2209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AF-4FCF-BD7D-A305419602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2B3F5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E304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AFC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B2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4C8497-7227-4873-B5D5-D2810D1CC7B7}" type="datetimeFigureOut">
              <a:t>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6DD56F-5F80-455C-A242-4ED84BDD782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30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KKBOX · 2017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73736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
</a:t>
            </a:r>
            <a:r>
              <a:rPr lang="en-US" sz="5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CRISP-DM Machine Learning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at-risk subscribers before they leave using advanced behavioral analysis, ensemble modeling, and a production-ready Streamlit deployment.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8920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410M+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54589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Records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48920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017520" y="54589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94960" y="48920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394960" y="54589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0" y="48920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95.6%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772400" y="54589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064240" y="65105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Roadmap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Framework — 6 Phases, from raw logs to a live Streamlit application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2648" y="1783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51560" y="2217420"/>
            <a:ext cx="594360" cy="594360"/>
          </a:xfrm>
          <a:prstGeom prst="ellipse">
            <a:avLst/>
          </a:prstGeom>
          <a:solidFill>
            <a:srgbClr val="00C9A7">
              <a:alpha val="18000"/>
            </a:srgbClr>
          </a:solidFill>
          <a:ln w="15875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2174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1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331720" y="169164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41448" y="1783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80360" y="2217420"/>
            <a:ext cx="594360" cy="594360"/>
          </a:xfrm>
          <a:prstGeom prst="ellipse">
            <a:avLst/>
          </a:prstGeom>
          <a:solidFill>
            <a:srgbClr val="4FC3F7">
              <a:alpha val="18000"/>
            </a:srgbClr>
          </a:solidFill>
          <a:ln w="15875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22174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210" dirty="0"/>
          </a:p>
        </p:txBody>
      </p:sp>
      <p:sp>
        <p:nvSpPr>
          <p:cNvPr id="14" name="Text 12"/>
          <p:cNvSpPr/>
          <p:nvPr/>
        </p:nvSpPr>
        <p:spPr>
          <a:xfrm>
            <a:off x="2377440" y="29260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60520" y="169164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70248" y="1783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217420"/>
            <a:ext cx="594360" cy="594360"/>
          </a:xfrm>
          <a:prstGeom prst="ellipse">
            <a:avLst/>
          </a:prstGeom>
          <a:solidFill>
            <a:srgbClr val="A855F7">
              <a:alpha val="18000"/>
            </a:srgbClr>
          </a:solidFill>
          <a:ln w="15875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2174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210" dirty="0"/>
          </a:p>
        </p:txBody>
      </p:sp>
      <p:sp>
        <p:nvSpPr>
          <p:cNvPr id="19" name="Text 17"/>
          <p:cNvSpPr/>
          <p:nvPr/>
        </p:nvSpPr>
        <p:spPr>
          <a:xfrm>
            <a:off x="4206240" y="29260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89320" y="169164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99048" y="1783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37960" y="2217420"/>
            <a:ext cx="594360" cy="594360"/>
          </a:xfrm>
          <a:prstGeom prst="ellipse">
            <a:avLst/>
          </a:prstGeom>
          <a:solidFill>
            <a:srgbClr val="FFD166">
              <a:alpha val="18000"/>
            </a:srgbClr>
          </a:solidFill>
          <a:ln w="15875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22174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210" dirty="0"/>
          </a:p>
        </p:txBody>
      </p:sp>
      <p:sp>
        <p:nvSpPr>
          <p:cNvPr id="24" name="Text 22"/>
          <p:cNvSpPr/>
          <p:nvPr/>
        </p:nvSpPr>
        <p:spPr>
          <a:xfrm>
            <a:off x="6035040" y="29260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818120" y="169164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927848" y="1783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66760" y="2217420"/>
            <a:ext cx="594360" cy="594360"/>
          </a:xfrm>
          <a:prstGeom prst="ellipse">
            <a:avLst/>
          </a:prstGeom>
          <a:solidFill>
            <a:srgbClr val="FF6B6B">
              <a:alpha val="18000"/>
            </a:srgbClr>
          </a:solidFill>
          <a:ln w="15875">
            <a:solidFill>
              <a:srgbClr val="FF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22174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10" dirty="0"/>
          </a:p>
        </p:txBody>
      </p:sp>
      <p:sp>
        <p:nvSpPr>
          <p:cNvPr id="29" name="Text 27"/>
          <p:cNvSpPr/>
          <p:nvPr/>
        </p:nvSpPr>
        <p:spPr>
          <a:xfrm>
            <a:off x="7863840" y="29260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646920" y="169164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756648" y="1783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195560" y="2217420"/>
            <a:ext cx="594360" cy="594360"/>
          </a:xfrm>
          <a:prstGeom prst="ellipse">
            <a:avLst/>
          </a:prstGeom>
          <a:solidFill>
            <a:srgbClr val="00C9A7">
              <a:alpha val="18000"/>
            </a:srgbClr>
          </a:solidFill>
          <a:ln w="15875">
            <a:solidFill>
              <a:srgbClr val="00C9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95560" y="22174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210" dirty="0"/>
          </a:p>
        </p:txBody>
      </p:sp>
      <p:sp>
        <p:nvSpPr>
          <p:cNvPr id="34" name="Text 32"/>
          <p:cNvSpPr/>
          <p:nvPr/>
        </p:nvSpPr>
        <p:spPr>
          <a:xfrm>
            <a:off x="9692640" y="29260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02920" y="3794760"/>
            <a:ext cx="10149840" cy="2148840"/>
          </a:xfrm>
          <a:prstGeom prst="roundRect">
            <a:avLst>
              <a:gd name="adj" fmla="val 3404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00100" y="4091940"/>
            <a:ext cx="502920" cy="502920"/>
          </a:xfrm>
          <a:prstGeom prst="ellipse">
            <a:avLst/>
          </a:prstGeom>
          <a:solidFill>
            <a:srgbClr val="00C9A7">
              <a:alpha val="18000"/>
            </a:srgbClr>
          </a:solidFill>
          <a:ln w="15875">
            <a:solidFill>
              <a:srgbClr val="00C9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0100" y="40919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870" dirty="0"/>
          </a:p>
        </p:txBody>
      </p:sp>
      <p:sp>
        <p:nvSpPr>
          <p:cNvPr id="38" name="Text 36"/>
          <p:cNvSpPr/>
          <p:nvPr/>
        </p:nvSpPr>
        <p:spPr>
          <a:xfrm>
            <a:off x="141732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417320" y="452628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KKBox operates on a subscription model. Every churned user directly impacts Monthly Recurring Revenue (MRR). The goal: predict — 30 days in advance — whether a user will renew, so retention campaigns can be triggered proactively.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68680" y="5394960"/>
            <a:ext cx="9418320" cy="0"/>
          </a:xfrm>
          <a:prstGeom prst="line">
            <a:avLst/>
          </a:prstGeom>
          <a:noFill/>
          <a:ln w="12700">
            <a:solidFill>
              <a:srgbClr val="2B3F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17320" y="5486400"/>
            <a:ext cx="877824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  Proactive retention is 5–7× cheaper than acquiring a new subscriber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1064240" y="65105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data sources · 450M+ records · 30GB+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319272" cy="4251960"/>
          </a:xfrm>
          <a:prstGeom prst="roundRect">
            <a:avLst>
              <a:gd name="adj" fmla="val 2204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20240"/>
            <a:ext cx="548640" cy="548640"/>
          </a:xfrm>
          <a:prstGeom prst="ellipse">
            <a:avLst/>
          </a:prstGeom>
          <a:solidFill>
            <a:srgbClr val="000000">
              <a:alpha val="18000"/>
            </a:srgbClr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040" dirty="0"/>
          </a:p>
        </p:txBody>
      </p:sp>
      <p:sp>
        <p:nvSpPr>
          <p:cNvPr id="8" name="Text 6"/>
          <p:cNvSpPr/>
          <p:nvPr/>
        </p:nvSpPr>
        <p:spPr>
          <a:xfrm>
            <a:off x="1371600" y="1947672"/>
            <a:ext cx="2313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258568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6.7M users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2862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28620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(age)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registered_via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registration_init_time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4937760"/>
            <a:ext cx="2862072" cy="0"/>
          </a:xfrm>
          <a:prstGeom prst="line">
            <a:avLst/>
          </a:prstGeom>
          <a:noFill/>
          <a:ln w="12700">
            <a:solidFill>
              <a:srgbClr val="2B3F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07492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67% missing age · 65% missing gender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950208" y="1691640"/>
            <a:ext cx="3319272" cy="4251960"/>
          </a:xfrm>
          <a:prstGeom prst="roundRect">
            <a:avLst>
              <a:gd name="adj" fmla="val 2204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78808" y="1920240"/>
            <a:ext cx="548640" cy="548640"/>
          </a:xfrm>
          <a:prstGeom prst="ellipse">
            <a:avLst/>
          </a:prstGeom>
          <a:solidFill>
            <a:srgbClr val="000000">
              <a:alpha val="18000"/>
            </a:srgbClr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78808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2040" dirty="0"/>
          </a:p>
        </p:txBody>
      </p:sp>
      <p:sp>
        <p:nvSpPr>
          <p:cNvPr id="17" name="Text 15"/>
          <p:cNvSpPr/>
          <p:nvPr/>
        </p:nvSpPr>
        <p:spPr>
          <a:xfrm>
            <a:off x="4818888" y="1947672"/>
            <a:ext cx="2313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18888" y="2258568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22.9M rows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78808" y="2743200"/>
            <a:ext cx="2862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78808" y="3017520"/>
            <a:ext cx="28620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payment_plan_days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plan_list_price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actual_amount_paid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is_auto_renew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is_cancel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78808" y="4937760"/>
            <a:ext cx="2862072" cy="0"/>
          </a:xfrm>
          <a:prstGeom prst="line">
            <a:avLst/>
          </a:prstGeom>
          <a:noFill/>
          <a:ln w="12700">
            <a:solidFill>
              <a:srgbClr val="2B3F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78808" y="507492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3.8% zero plan days · invalid expire dates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97496" y="1691640"/>
            <a:ext cx="3319272" cy="4251960"/>
          </a:xfrm>
          <a:prstGeom prst="roundRect">
            <a:avLst>
              <a:gd name="adj" fmla="val 2204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26096" y="1920240"/>
            <a:ext cx="548640" cy="548640"/>
          </a:xfrm>
          <a:prstGeom prst="ellipse">
            <a:avLst/>
          </a:prstGeom>
          <a:solidFill>
            <a:srgbClr val="000000">
              <a:alpha val="18000"/>
            </a:srgbClr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6096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</a:t>
            </a:r>
            <a:endParaRPr lang="en-US" sz="2040" dirty="0"/>
          </a:p>
        </p:txBody>
      </p:sp>
      <p:sp>
        <p:nvSpPr>
          <p:cNvPr id="26" name="Text 24"/>
          <p:cNvSpPr/>
          <p:nvPr/>
        </p:nvSpPr>
        <p:spPr>
          <a:xfrm>
            <a:off x="8266176" y="1947672"/>
            <a:ext cx="2313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66176" y="2258568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410M+ rows · 27.5GB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26096" y="2743200"/>
            <a:ext cx="2862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26096" y="3017520"/>
            <a:ext cx="28620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num_25/50/75/985/100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num_unq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total_secs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626096" y="4937760"/>
            <a:ext cx="2862072" cy="0"/>
          </a:xfrm>
          <a:prstGeom prst="line">
            <a:avLst/>
          </a:prstGeom>
          <a:noFill/>
          <a:ln w="12700">
            <a:solidFill>
              <a:srgbClr val="2B3F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26096" y="507492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28.87% impossible values · negative secs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064240" y="65105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critical obstacles — and how we solved them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0149840" cy="1481328"/>
          </a:xfrm>
          <a:prstGeom prst="roundRect">
            <a:avLst>
              <a:gd name="adj" fmla="val 4938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57984"/>
            <a:ext cx="548640" cy="548640"/>
          </a:xfrm>
          <a:prstGeom prst="ellipse">
            <a:avLst/>
          </a:prstGeom>
          <a:solidFill>
            <a:srgbClr val="00C9A7">
              <a:alpha val="18000"/>
            </a:srgbClr>
          </a:solidFill>
          <a:ln w="15875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579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2040" dirty="0"/>
          </a:p>
        </p:txBody>
      </p:sp>
      <p:sp>
        <p:nvSpPr>
          <p:cNvPr id="8" name="Text 6"/>
          <p:cNvSpPr/>
          <p:nvPr/>
        </p:nvSpPr>
        <p:spPr>
          <a:xfrm>
            <a:off x="1463040" y="1801368"/>
            <a:ext cx="28346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Crashes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434840" y="1837944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</a:t>
            </a:r>
            <a:r>
              <a:rPr lang="en-US" sz="11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logs contained 410M+ rows (27.5 GB). Loading them entirely caused immediate MemoryError on standard machines.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35240" y="1837944"/>
            <a:ext cx="2834640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10000"/>
              </a:lnSpc>
            </a:pPr>
            <a:r>
              <a:rPr lang="en-US" sz="1100" b="1" dirty="0">
                <a:solidFill>
                  <a:srgbClr val="00C9A7"/>
                </a:solidFill>
                <a:latin typeface="Calibri"/>
                <a:ea typeface="Calibri"/>
                <a:cs typeface="Calibri"/>
              </a:rPr>
              <a:t> SOLUTION  </a:t>
            </a:r>
            <a:r>
              <a:rPr lang="en-US" sz="11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date filtering. </a:t>
            </a:r>
            <a:r>
              <a:rPr lang="en-US" sz="11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Dtype</a:t>
            </a:r>
            <a:r>
              <a:rPr lang="en-US" sz="11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downcasting</a:t>
            </a:r>
            <a:r>
              <a:rPr lang="en-US" sz="11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int64 → int16 saved ~19 GB of RAM &amp; Grouped and aggregated user logs by MSNO (user ID) instead of processing every raw row individually</a:t>
            </a:r>
            <a:r>
              <a:rPr lang="en-US" sz="1200" dirty="0">
                <a:solidFill>
                  <a:srgbClr val="FFFFFF"/>
                </a:solidFill>
                <a:latin typeface="Arial"/>
                <a:ea typeface="Calibri"/>
                <a:cs typeface="Arial"/>
              </a:rPr>
              <a:t>.</a:t>
            </a:r>
            <a:endParaRPr lang="en-US" sz="11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0000"/>
              </a:lnSpc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02920" y="3300984"/>
            <a:ext cx="10149840" cy="1481328"/>
          </a:xfrm>
          <a:prstGeom prst="roundRect">
            <a:avLst>
              <a:gd name="adj" fmla="val 4938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767328"/>
            <a:ext cx="548640" cy="548640"/>
          </a:xfrm>
          <a:prstGeom prst="ellipse">
            <a:avLst/>
          </a:prstGeom>
          <a:solidFill>
            <a:srgbClr val="A855F7">
              <a:alpha val="18000"/>
            </a:srgbClr>
          </a:solidFill>
          <a:ln w="15875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767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</a:t>
            </a:r>
            <a:endParaRPr lang="en-US" sz="2040" dirty="0"/>
          </a:p>
        </p:txBody>
      </p:sp>
      <p:sp>
        <p:nvSpPr>
          <p:cNvPr id="14" name="Text 12"/>
          <p:cNvSpPr/>
          <p:nvPr/>
        </p:nvSpPr>
        <p:spPr>
          <a:xfrm>
            <a:off x="1463040" y="3410712"/>
            <a:ext cx="28346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Data Quality Issues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434840" y="3447288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</a:t>
            </a:r>
            <a:r>
              <a:rPr lang="en-US" sz="11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of -7,168 and 2,016. Expire dates in 1970 and 2036. 28.87% impossible log values (num_100 &gt; num_unq). 65–67% missing demographics.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35240" y="3447288"/>
            <a:ext cx="2834640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C9A7"/>
                </a:solidFill>
                <a:latin typeface="Calibri"/>
                <a:ea typeface="Calibri"/>
                <a:cs typeface="Calibri"/>
              </a:rPr>
              <a:t> SOLUTION  </a:t>
            </a:r>
            <a:r>
              <a:rPr lang="en-US" sz="11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Per-column validation masks. Invalid ages → </a:t>
            </a:r>
            <a:r>
              <a:rPr lang="en-US" sz="11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NaN</a:t>
            </a:r>
            <a:r>
              <a:rPr lang="en-US" sz="11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 Expire dates filtered to 2015–2020. Missing gender → 'Unknown' category (preserves signal).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2920" y="4910328"/>
            <a:ext cx="10149840" cy="1481328"/>
          </a:xfrm>
          <a:prstGeom prst="roundRect">
            <a:avLst>
              <a:gd name="adj" fmla="val 4938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5376672"/>
            <a:ext cx="548640" cy="548640"/>
          </a:xfrm>
          <a:prstGeom prst="ellipse">
            <a:avLst/>
          </a:prstGeom>
          <a:solidFill>
            <a:srgbClr val="FFD166">
              <a:alpha val="18000"/>
            </a:srgbClr>
          </a:solidFill>
          <a:ln w="15875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376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040" dirty="0"/>
          </a:p>
        </p:txBody>
      </p:sp>
      <p:sp>
        <p:nvSpPr>
          <p:cNvPr id="20" name="Text 18"/>
          <p:cNvSpPr/>
          <p:nvPr/>
        </p:nvSpPr>
        <p:spPr>
          <a:xfrm>
            <a:off x="1463040" y="5020056"/>
            <a:ext cx="28346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Risk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434840" y="5056632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</a:t>
            </a:r>
            <a:r>
              <a:rPr lang="en-US" sz="11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absolute transaction dates from the evaluation period would give the model 'future' knowledge, artificially inflating performance.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35240" y="5056632"/>
            <a:ext cx="2834640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C9A7"/>
                </a:solidFill>
                <a:latin typeface="Calibri"/>
                <a:ea typeface="Calibri"/>
                <a:cs typeface="Calibri"/>
              </a:rPr>
              <a:t> SOLUTION  </a:t>
            </a:r>
            <a:r>
              <a:rPr lang="en-US" sz="11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Dropped raw dates from final features. Used only relative durations, frequency counts, and time-windowed aggregations (last 15/30 days).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064240" y="65105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quality fixes across all 3 datasets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319272" cy="4251960"/>
          </a:xfrm>
          <a:prstGeom prst="roundRect">
            <a:avLst>
              <a:gd name="adj" fmla="val 2204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92808"/>
            <a:ext cx="2862072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0C9A7"/>
                </a:solidFill>
                <a:latin typeface="Calibri"/>
                <a:ea typeface="Calibri"/>
                <a:cs typeface="Calibri"/>
              </a:rPr>
              <a:t>Transactions</a:t>
            </a:r>
            <a:endParaRPr lang="en-US" sz="145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862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payment_plan_days = 0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2633472"/>
            <a:ext cx="2039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04872" y="263347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872K rows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3236976"/>
            <a:ext cx="2862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= 0 &amp; amount &gt; 0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3493008"/>
            <a:ext cx="2039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04872" y="349300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859K rows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4096512"/>
            <a:ext cx="2862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plan_list_price outliers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4352544"/>
            <a:ext cx="2039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(cap 99th pct)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04872" y="435254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366K rows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4956048"/>
            <a:ext cx="2862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date columns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5212080"/>
            <a:ext cx="2039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(int→datetime)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404872" y="52120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50208" y="1691640"/>
            <a:ext cx="3319272" cy="4251960"/>
          </a:xfrm>
          <a:prstGeom prst="roundRect">
            <a:avLst>
              <a:gd name="adj" fmla="val 2204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78808" y="1892808"/>
            <a:ext cx="2862072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FC3F7"/>
                </a:solidFill>
                <a:latin typeface="Calibri"/>
                <a:ea typeface="Calibri"/>
                <a:cs typeface="Calibri"/>
              </a:rPr>
              <a:t> Members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178808" y="2377440"/>
            <a:ext cx="2862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(age) ≤ 0 or &gt; 100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78808" y="2633472"/>
            <a:ext cx="2039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→ NaN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52160" y="263347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5,651 rows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78808" y="3236976"/>
            <a:ext cx="2862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missing (65%)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178808" y="3493008"/>
            <a:ext cx="2039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→ 'Unknown'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852160" y="349300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4.4M rows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78808" y="4096512"/>
            <a:ext cx="2862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registration_init_time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178808" y="4352544"/>
            <a:ext cx="2039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(int→datetime)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52160" y="435254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178808" y="4956048"/>
            <a:ext cx="2862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registered_via = -1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178808" y="5212080"/>
            <a:ext cx="2039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852160" y="52120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rows removed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397496" y="1691640"/>
            <a:ext cx="3319272" cy="4251960"/>
          </a:xfrm>
          <a:prstGeom prst="roundRect">
            <a:avLst>
              <a:gd name="adj" fmla="val 2204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626096" y="1892808"/>
            <a:ext cx="2862072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855F7"/>
                </a:solidFill>
                <a:latin typeface="Calibri"/>
                <a:ea typeface="Calibri"/>
                <a:cs typeface="Calibri"/>
              </a:rPr>
              <a:t> User Logs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626096" y="2377440"/>
            <a:ext cx="2862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total_secs ≤ 0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626096" y="2633472"/>
            <a:ext cx="2039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99448" y="263347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61K rows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626096" y="3236976"/>
            <a:ext cx="2862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total_secs &gt; 86,400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626096" y="3493008"/>
            <a:ext cx="2039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(cap)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299448" y="349300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147K rows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626096" y="4096512"/>
            <a:ext cx="2862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num_100 &gt; num_unq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626096" y="4352544"/>
            <a:ext cx="2039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(replay behavior)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299448" y="435254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118M rows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626096" y="4956048"/>
            <a:ext cx="2862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(msno + date)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626096" y="5212080"/>
            <a:ext cx="2039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(drop, keep last)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299448" y="52120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1064240" y="65105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raw data into predictive signals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3319272" cy="4297680"/>
          </a:xfrm>
          <a:prstGeom prst="roundRect">
            <a:avLst>
              <a:gd name="adj" fmla="val 2204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" y="1828800"/>
            <a:ext cx="2916936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C9A7"/>
                </a:solidFill>
                <a:latin typeface="Calibri"/>
                <a:ea typeface="Calibri"/>
                <a:cs typeface="Calibri"/>
              </a:rPr>
              <a:t> Transaction Features</a:t>
            </a:r>
            <a:endParaRPr lang="en-US" sz="135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704088" y="2240280"/>
            <a:ext cx="291693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 per user</a:t>
            </a:r>
            <a:endParaRPr lang="en-US" sz="108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plan duration (payment_plan_days)</a:t>
            </a:r>
            <a:endParaRPr lang="en-US" sz="108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transactions with is_auto_renew ON</a:t>
            </a:r>
            <a:endParaRPr lang="en-US" sz="108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= list_price − amount_paid</a:t>
            </a:r>
            <a:endParaRPr lang="en-US" sz="108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transactions with is_cancel = 1</a:t>
            </a:r>
            <a:endParaRPr lang="en-US" sz="108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from transaction history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04088" y="4343400"/>
            <a:ext cx="2916936" cy="0"/>
          </a:xfrm>
          <a:prstGeom prst="line">
            <a:avLst/>
          </a:prstGeom>
          <a:noFill/>
          <a:ln w="12700">
            <a:solidFill>
              <a:srgbClr val="2B3F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4480560"/>
            <a:ext cx="2916936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9A7"/>
                </a:solidFill>
                <a:latin typeface="Calibri"/>
                <a:ea typeface="Calibri"/>
                <a:cs typeface="Calibri"/>
              </a:rPr>
              <a:t> Time Windows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04088" y="4773168"/>
            <a:ext cx="291693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extracted from last 15 days vs last 30 days reveal engagement trends — the most powerful churn signal.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50208" y="1645920"/>
            <a:ext cx="3319272" cy="4297680"/>
          </a:xfrm>
          <a:prstGeom prst="roundRect">
            <a:avLst>
              <a:gd name="adj" fmla="val 2204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51376" y="1828800"/>
            <a:ext cx="2916936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FC3F7"/>
                </a:solidFill>
                <a:latin typeface="Calibri"/>
                <a:ea typeface="Calibri"/>
                <a:cs typeface="Calibri"/>
              </a:rPr>
              <a:t> Behavioral Features</a:t>
            </a:r>
            <a:endParaRPr lang="en-US" sz="1350" dirty="0">
              <a:latin typeface="Calibri"/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51376" y="2240280"/>
            <a:ext cx="291693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/ mean / std of num_100 (15d, 30d, all)</a:t>
            </a:r>
            <a:endParaRPr lang="en-US" sz="108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replay_rate = (num_100 − num_unq) / (num_unq+1)</a:t>
            </a:r>
            <a:endParaRPr lang="en-US" sz="108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/ mean / std of total_secs</a:t>
            </a:r>
            <a:endParaRPr lang="en-US" sz="108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active in last 15 / 30 days</a:t>
            </a:r>
            <a:endParaRPr lang="en-US" sz="108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completion_rate = num_100 / num_unq</a:t>
            </a:r>
            <a:endParaRPr lang="en-US" sz="108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trend (recent vs older)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151376" y="4343400"/>
            <a:ext cx="2916936" cy="0"/>
          </a:xfrm>
          <a:prstGeom prst="line">
            <a:avLst/>
          </a:prstGeom>
          <a:noFill/>
          <a:ln w="12700">
            <a:solidFill>
              <a:srgbClr val="2B3F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51376" y="4480560"/>
            <a:ext cx="2916936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C3F7"/>
                </a:solidFill>
                <a:latin typeface="Calibri"/>
                <a:ea typeface="Calibri"/>
                <a:cs typeface="Calibri"/>
              </a:rPr>
              <a:t> Replay Rate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151376" y="4773168"/>
            <a:ext cx="291693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num_100 &gt; num_unq isn't an error. It means the user replays songs — a strong engagement indicator.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97496" y="1645920"/>
            <a:ext cx="3319272" cy="4297680"/>
          </a:xfrm>
          <a:prstGeom prst="roundRect">
            <a:avLst>
              <a:gd name="adj" fmla="val 2204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98664" y="1828800"/>
            <a:ext cx="2916936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855F7"/>
                </a:solidFill>
                <a:latin typeface="Calibri"/>
                <a:ea typeface="Calibri"/>
                <a:cs typeface="Calibri"/>
              </a:rPr>
              <a:t> Membership Features</a:t>
            </a:r>
            <a:endParaRPr lang="en-US" sz="1350" dirty="0">
              <a:latin typeface="Calibri"/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598664" y="2240280"/>
            <a:ext cx="291693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= expire_date − registration_date</a:t>
            </a:r>
            <a:endParaRPr lang="en-US" sz="108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registered_via (categorical)</a:t>
            </a:r>
            <a:endParaRPr lang="en-US" sz="108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year / month</a:t>
            </a:r>
            <a:endParaRPr lang="en-US" sz="108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bins after cleaning</a:t>
            </a:r>
            <a:endParaRPr lang="en-US" sz="108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(categorical)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7598664" y="4343400"/>
            <a:ext cx="2916936" cy="0"/>
          </a:xfrm>
          <a:prstGeom prst="line">
            <a:avLst/>
          </a:prstGeom>
          <a:noFill/>
          <a:ln w="12700">
            <a:solidFill>
              <a:srgbClr val="2B3F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98664" y="4480560"/>
            <a:ext cx="2916936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A855F7"/>
                </a:solidFill>
                <a:latin typeface="Calibri"/>
                <a:ea typeface="Calibri"/>
                <a:cs typeface="Calibri"/>
              </a:rPr>
              <a:t>Category Types</a:t>
            </a:r>
            <a:endParaRPr lang="en-US" sz="1150">
              <a:latin typeface="Calibri"/>
              <a:ea typeface="Calibri"/>
              <a:cs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598664" y="4773168"/>
            <a:ext cx="291693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categorical columns converted to Pandas 'category' dtype — enables LightGBM native splits without One-Hot Encoding.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064240" y="65105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Strategy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algorithms tested under strict validation conditions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2487168" cy="1691640"/>
          </a:xfrm>
          <a:prstGeom prst="roundRect">
            <a:avLst>
              <a:gd name="adj" fmla="val 4324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" y="1755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67512" y="219456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" y="2560320"/>
            <a:ext cx="21579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split ensuring zero user overlap between train and test sets to prevent data leakage.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08960" y="1645920"/>
            <a:ext cx="2487168" cy="1691640"/>
          </a:xfrm>
          <a:prstGeom prst="roundRect">
            <a:avLst>
              <a:gd name="adj" fmla="val 4324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73552" y="1755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73552" y="219456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73552" y="2560320"/>
            <a:ext cx="21579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is_unbalance=True in LightGBM. Only 6.39% of users churn — imbalance must be addressed.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15000" y="1645920"/>
            <a:ext cx="2487168" cy="1691640"/>
          </a:xfrm>
          <a:prstGeom prst="roundRect">
            <a:avLst>
              <a:gd name="adj" fmla="val 4324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79592" y="1755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879592" y="219456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79592" y="2560320"/>
            <a:ext cx="21579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on LightGBM: learning_rate, max_depth, num_leaves, n_estimators.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321040" y="1645920"/>
            <a:ext cx="2487168" cy="1691640"/>
          </a:xfrm>
          <a:prstGeom prst="roundRect">
            <a:avLst>
              <a:gd name="adj" fmla="val 4324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85632" y="1755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85632" y="219456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85632" y="2560320"/>
            <a:ext cx="21579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as primary metric. Recall prioritized for business alignment.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TESTED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3886200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67512" y="3995928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7512" y="429768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3108960" y="3886200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73552" y="3995928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73552" y="429768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715000" y="3886200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879592" y="3995928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79592" y="429768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8321040" y="3886200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16332C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485632" y="3995928"/>
            <a:ext cx="2157984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  <a:latin typeface="Calibri"/>
                <a:ea typeface="Calibri"/>
                <a:cs typeface="Calibri"/>
              </a:rPr>
              <a:t> Champion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485632" y="429768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502920" y="5074920"/>
            <a:ext cx="10149840" cy="914400"/>
          </a:xfrm>
          <a:prstGeom prst="roundRect">
            <a:avLst>
              <a:gd name="adj" fmla="val 8000"/>
            </a:avLst>
          </a:prstGeom>
          <a:solidFill>
            <a:srgbClr val="152638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77240" y="5193792"/>
            <a:ext cx="2743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  Why </a:t>
            </a:r>
            <a:r>
              <a:rPr lang="en-US" sz="1250" b="1" dirty="0" err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LightGBM</a:t>
            </a:r>
            <a:r>
              <a:rPr lang="en-US" sz="1250" b="1" dirty="0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?</a:t>
            </a:r>
            <a:endParaRPr lang="en-US" sz="1250" dirty="0">
              <a:latin typeface="Calibri"/>
              <a:ea typeface="Calibri"/>
              <a:cs typeface="Calibri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77240" y="54864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training on large tabular data   ·   Native categorical support — no One-Hot Encoding   ·   Highest ROC-AUC &amp; Recall   ·   Built-in class-imbalance handling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064240" y="65105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leaderboard — ROC-AUC score across all tested models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691640"/>
          <a:ext cx="64922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269480" y="16916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98080" y="180136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99.26%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498080" y="23134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0" y="25877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Tuned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269480" y="310896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498080" y="321868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95.6%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498080" y="37307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498080" y="40050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churners caught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269480" y="45262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498080" y="463600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53.6%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7498080" y="51480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498080" y="54223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flagged users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269480" y="5989320"/>
            <a:ext cx="338328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  Tuning gain: +0.06% ROC-AUC over base </a:t>
            </a:r>
            <a:r>
              <a:rPr lang="en-US" sz="1100" i="1" dirty="0" err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LightGBM</a:t>
            </a:r>
            <a:endParaRPr lang="en-US" sz="11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1064240" y="65105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Evaluation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Recall matters more than Precision in this context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010912" cy="1481328"/>
          </a:xfrm>
          <a:prstGeom prst="roundRect">
            <a:avLst>
              <a:gd name="adj" fmla="val 4938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" y="1819656"/>
            <a:ext cx="4608576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/>
                <a:ea typeface="Calibri"/>
                <a:cs typeface="Calibri"/>
              </a:rPr>
              <a:t> True Positive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704088" y="2130552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churn · Actually churned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04088" y="2468880"/>
            <a:ext cx="4608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— we intervened and saved them!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41848" y="1691640"/>
            <a:ext cx="5010912" cy="1481328"/>
          </a:xfrm>
          <a:prstGeom prst="roundRect">
            <a:avLst>
              <a:gd name="adj" fmla="val 4938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43016" y="1819656"/>
            <a:ext cx="4608576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b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 False Positive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843016" y="2130552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churn · Actually stayed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43016" y="2468880"/>
            <a:ext cx="4608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gave a discount to a loyal user — small cost, boosts satisfaction.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300984"/>
            <a:ext cx="5010912" cy="1481328"/>
          </a:xfrm>
          <a:prstGeom prst="roundRect">
            <a:avLst>
              <a:gd name="adj" fmla="val 4938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" y="3429000"/>
            <a:ext cx="4608576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/>
                <a:ea typeface="Calibri"/>
                <a:cs typeface="Calibri"/>
              </a:rPr>
              <a:t> False Negative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4088" y="3739896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stay · Actually churned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088" y="4078224"/>
            <a:ext cx="4608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— lost revenue forever, no chance to intervene.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41848" y="3300984"/>
            <a:ext cx="5010912" cy="1481328"/>
          </a:xfrm>
          <a:prstGeom prst="roundRect">
            <a:avLst>
              <a:gd name="adj" fmla="val 4938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43016" y="3429000"/>
            <a:ext cx="4608576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/>
                <a:ea typeface="Calibri"/>
                <a:cs typeface="Calibri"/>
              </a:rPr>
              <a:t> True Negative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843016" y="3739896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stay · Actually stayed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43016" y="4078224"/>
            <a:ext cx="4608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— no action needed.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5074920"/>
            <a:ext cx="10149840" cy="914400"/>
          </a:xfrm>
          <a:prstGeom prst="roundRect">
            <a:avLst>
              <a:gd name="adj" fmla="val 8000"/>
            </a:avLst>
          </a:prstGeom>
          <a:solidFill>
            <a:srgbClr val="152638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5175504"/>
            <a:ext cx="2743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9A7"/>
                </a:solidFill>
                <a:latin typeface="Calibri"/>
                <a:ea typeface="Calibri"/>
                <a:cs typeface="Calibri"/>
              </a:rPr>
              <a:t>  Strategic Conclusion:</a:t>
            </a:r>
            <a:endParaRPr lang="en-US" sz="1250" dirty="0">
              <a:latin typeface="Calibri"/>
              <a:ea typeface="Calibri"/>
              <a:cs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77240" y="54406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Maximizing Recall (95.6%) minimizes False Negatives — the costliest error in a subscription business. The moderate Precision (53.6%) is acceptable: a misclassified loyal user simply receives a discount, reinforcing loyalty.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064240" y="65105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4–5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Hyperparameter Tuning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the model — and how it was tuned to get there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BY IMPORTANCE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1828800"/>
          <a:ext cx="63093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98932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(days_until_expiration, days_since_last_transaction) and payment behavior dominate — confirming that engagement decay is the strongest early-warning signal for churn.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995160" y="160020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152638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223760" y="1755648"/>
            <a:ext cx="320040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1300" b="1" dirty="0" err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RandomizedSearchCV</a:t>
            </a:r>
            <a:r>
              <a:rPr lang="en-US" sz="1300" b="1" dirty="0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 — Best Config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223760" y="21488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</a:t>
            </a: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300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223760" y="238658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300 sequential trees, each correcting errors from the previous.</a:t>
            </a:r>
            <a:endParaRPr lang="en-US" sz="970" dirty="0"/>
          </a:p>
        </p:txBody>
      </p:sp>
      <p:sp>
        <p:nvSpPr>
          <p:cNvPr id="12" name="Text 9"/>
          <p:cNvSpPr/>
          <p:nvPr/>
        </p:nvSpPr>
        <p:spPr>
          <a:xfrm>
            <a:off x="7223760" y="29443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learning_rate</a:t>
            </a: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0.05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223760" y="318211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rate prevents overfitting — the model learns conservatively.</a:t>
            </a:r>
            <a:endParaRPr lang="en-US" sz="970" dirty="0"/>
          </a:p>
        </p:txBody>
      </p:sp>
      <p:sp>
        <p:nvSpPr>
          <p:cNvPr id="14" name="Text 11"/>
          <p:cNvSpPr/>
          <p:nvPr/>
        </p:nvSpPr>
        <p:spPr>
          <a:xfrm>
            <a:off x="7223760" y="373989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is_unbalance</a:t>
            </a: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True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223760" y="39776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WEAPON: heavily penalizes misclassifying the rare 6% churn class, boosting Recall to 95.6%.</a:t>
            </a:r>
            <a:endParaRPr lang="en-US" sz="970" dirty="0"/>
          </a:p>
        </p:txBody>
      </p:sp>
      <p:sp>
        <p:nvSpPr>
          <p:cNvPr id="16" name="Text 13"/>
          <p:cNvSpPr/>
          <p:nvPr/>
        </p:nvSpPr>
        <p:spPr>
          <a:xfrm>
            <a:off x="7223760" y="453542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num_leaves</a:t>
            </a: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63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223760" y="477316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complex, high-order feature interactions — key for behavioral patterns.</a:t>
            </a:r>
            <a:endParaRPr lang="en-US" sz="970" dirty="0"/>
          </a:p>
        </p:txBody>
      </p:sp>
      <p:sp>
        <p:nvSpPr>
          <p:cNvPr id="18" name="Text 15"/>
          <p:cNvSpPr/>
          <p:nvPr/>
        </p:nvSpPr>
        <p:spPr>
          <a:xfrm>
            <a:off x="7223760" y="53309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8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223760" y="556869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tree depth to prevent memorizing training noise (overfitting).</a:t>
            </a:r>
            <a:endParaRPr lang="en-US" sz="970" dirty="0"/>
          </a:p>
        </p:txBody>
      </p:sp>
      <p:sp>
        <p:nvSpPr>
          <p:cNvPr id="20" name="Text 17"/>
          <p:cNvSpPr/>
          <p:nvPr/>
        </p:nvSpPr>
        <p:spPr>
          <a:xfrm>
            <a:off x="11064240" y="65105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Operationalization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static notebook to a fully interactive Streamlit web application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10149840" cy="1051560"/>
          </a:xfrm>
          <a:prstGeom prst="roundRect">
            <a:avLst>
              <a:gd name="adj" fmla="val 6957"/>
            </a:avLst>
          </a:prstGeom>
          <a:solidFill>
            <a:srgbClr val="152638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0100" y="1924812"/>
            <a:ext cx="502920" cy="502920"/>
          </a:xfrm>
          <a:prstGeom prst="ellipse">
            <a:avLst/>
          </a:prstGeom>
          <a:solidFill>
            <a:srgbClr val="00C9A7">
              <a:alpha val="18000"/>
            </a:srgbClr>
          </a:solidFill>
          <a:ln w="15875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0100" y="19248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870" dirty="0"/>
          </a:p>
        </p:txBody>
      </p:sp>
      <p:sp>
        <p:nvSpPr>
          <p:cNvPr id="8" name="Text 6"/>
          <p:cNvSpPr/>
          <p:nvPr/>
        </p:nvSpPr>
        <p:spPr>
          <a:xfrm>
            <a:off x="1417320" y="181051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from Model to Product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121408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 from a static Jupyter Notebook to a fully interactive, browser-based web application built for non-technical teams.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880360"/>
            <a:ext cx="3319272" cy="1920240"/>
          </a:xfrm>
          <a:prstGeom prst="roundRect">
            <a:avLst>
              <a:gd name="adj" fmla="val 3810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8660" y="3086100"/>
            <a:ext cx="502920" cy="502920"/>
          </a:xfrm>
          <a:prstGeom prst="ellipse">
            <a:avLst/>
          </a:prstGeom>
          <a:solidFill>
            <a:srgbClr val="00C9A7">
              <a:alpha val="18000"/>
            </a:srgbClr>
          </a:solidFill>
          <a:ln w="15875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8660" y="30861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</a:t>
            </a:r>
            <a:endParaRPr lang="en-US" sz="1870" dirty="0"/>
          </a:p>
        </p:txBody>
      </p:sp>
      <p:sp>
        <p:nvSpPr>
          <p:cNvPr id="13" name="Text 11"/>
          <p:cNvSpPr/>
          <p:nvPr/>
        </p:nvSpPr>
        <p:spPr>
          <a:xfrm>
            <a:off x="704088" y="3749040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5-Page Streamlit Dashboard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4088" y="4160520"/>
            <a:ext cx="2916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 dashboard framework empowering Marketing and CRM teams to predict churn seamlessly — no coding skills required.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50208" y="2880360"/>
            <a:ext cx="3319272" cy="1920240"/>
          </a:xfrm>
          <a:prstGeom prst="roundRect">
            <a:avLst>
              <a:gd name="adj" fmla="val 3810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55948" y="3086100"/>
            <a:ext cx="502920" cy="502920"/>
          </a:xfrm>
          <a:prstGeom prst="ellipse">
            <a:avLst/>
          </a:prstGeom>
          <a:solidFill>
            <a:srgbClr val="4FC3F7">
              <a:alpha val="18000"/>
            </a:srgbClr>
          </a:solidFill>
          <a:ln w="15875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55948" y="30861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870" dirty="0"/>
          </a:p>
        </p:txBody>
      </p:sp>
      <p:sp>
        <p:nvSpPr>
          <p:cNvPr id="18" name="Text 16"/>
          <p:cNvSpPr/>
          <p:nvPr/>
        </p:nvSpPr>
        <p:spPr>
          <a:xfrm>
            <a:off x="4151376" y="3749040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Prediction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51376" y="4160520"/>
            <a:ext cx="2916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risk scoring for individual users — built for the customer-service use case: look up one subscriber, get an instant verdict.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97496" y="2880360"/>
            <a:ext cx="3319272" cy="1920240"/>
          </a:xfrm>
          <a:prstGeom prst="roundRect">
            <a:avLst>
              <a:gd name="adj" fmla="val 3810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03236" y="3086100"/>
            <a:ext cx="502920" cy="502920"/>
          </a:xfrm>
          <a:prstGeom prst="ellipse">
            <a:avLst/>
          </a:prstGeom>
          <a:solidFill>
            <a:srgbClr val="A855F7">
              <a:alpha val="18000"/>
            </a:srgbClr>
          </a:solidFill>
          <a:ln w="15875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03236" y="30861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870" dirty="0"/>
          </a:p>
        </p:txBody>
      </p:sp>
      <p:sp>
        <p:nvSpPr>
          <p:cNvPr id="23" name="Text 21"/>
          <p:cNvSpPr/>
          <p:nvPr/>
        </p:nvSpPr>
        <p:spPr>
          <a:xfrm>
            <a:off x="7598664" y="3749040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Prediction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98664" y="4160520"/>
            <a:ext cx="2916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processing via CSV upload for weekly marketing campaigns — score thousands of subscribers in one pass.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5029200"/>
            <a:ext cx="10149840" cy="1051560"/>
          </a:xfrm>
          <a:prstGeom prst="roundRect">
            <a:avLst>
              <a:gd name="adj" fmla="val 6957"/>
            </a:avLst>
          </a:prstGeom>
          <a:solidFill>
            <a:srgbClr val="152638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5148072"/>
            <a:ext cx="45720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  Output: not just a 0/1 prediction</a:t>
            </a:r>
            <a:endParaRPr lang="en-US" sz="1250" dirty="0">
              <a:latin typeface="Calibri"/>
              <a:ea typeface="Calibri"/>
              <a:cs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77240" y="5431536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generates a continuous Churn Probability Score (0.0–1.0), letting the marketing team rank and prioritize customers by risk tier — High, Medium, Low.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064240" y="65105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User Experience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of the production application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010912" cy="1965960"/>
          </a:xfrm>
          <a:prstGeom prst="roundRect">
            <a:avLst>
              <a:gd name="adj" fmla="val 3721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20240"/>
            <a:ext cx="548640" cy="548640"/>
          </a:xfrm>
          <a:prstGeom prst="ellipse">
            <a:avLst/>
          </a:prstGeom>
          <a:solidFill>
            <a:srgbClr val="00C9A7">
              <a:alpha val="18000"/>
            </a:srgbClr>
          </a:solidFill>
          <a:ln w="15875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2040" dirty="0"/>
          </a:p>
        </p:txBody>
      </p:sp>
      <p:sp>
        <p:nvSpPr>
          <p:cNvPr id="8" name="Text 6"/>
          <p:cNvSpPr/>
          <p:nvPr/>
        </p:nvSpPr>
        <p:spPr>
          <a:xfrm>
            <a:off x="1417320" y="1947672"/>
            <a:ext cx="3867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Theme Engine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58952" y="2606040"/>
            <a:ext cx="44988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CSS theme engine that natively supports OS-level Light and Dark modes.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41848" y="1691640"/>
            <a:ext cx="5010912" cy="1965960"/>
          </a:xfrm>
          <a:prstGeom prst="roundRect">
            <a:avLst>
              <a:gd name="adj" fmla="val 3721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70448" y="1920240"/>
            <a:ext cx="548640" cy="548640"/>
          </a:xfrm>
          <a:prstGeom prst="ellipse">
            <a:avLst/>
          </a:prstGeom>
          <a:solidFill>
            <a:srgbClr val="4FC3F7">
              <a:alpha val="18000"/>
            </a:srgbClr>
          </a:solidFill>
          <a:ln w="15875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70448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40" dirty="0"/>
          </a:p>
        </p:txBody>
      </p:sp>
      <p:sp>
        <p:nvSpPr>
          <p:cNvPr id="13" name="Text 11"/>
          <p:cNvSpPr/>
          <p:nvPr/>
        </p:nvSpPr>
        <p:spPr>
          <a:xfrm>
            <a:off x="6556248" y="1947672"/>
            <a:ext cx="3867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Analytics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897880" y="2606040"/>
            <a:ext cx="44988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Plotly-powered dynamic EDA, correlation heatmaps, and live model benchmarking inside the dashboard.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785616"/>
            <a:ext cx="5010912" cy="1965960"/>
          </a:xfrm>
          <a:prstGeom prst="roundRect">
            <a:avLst>
              <a:gd name="adj" fmla="val 3721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4014216"/>
            <a:ext cx="548640" cy="548640"/>
          </a:xfrm>
          <a:prstGeom prst="ellipse">
            <a:avLst/>
          </a:prstGeom>
          <a:solidFill>
            <a:srgbClr val="FFD166">
              <a:alpha val="18000"/>
            </a:srgbClr>
          </a:solidFill>
          <a:ln w="15875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142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040" dirty="0"/>
          </a:p>
        </p:txBody>
      </p:sp>
      <p:sp>
        <p:nvSpPr>
          <p:cNvPr id="18" name="Text 16"/>
          <p:cNvSpPr/>
          <p:nvPr/>
        </p:nvSpPr>
        <p:spPr>
          <a:xfrm>
            <a:off x="1417320" y="4041648"/>
            <a:ext cx="3867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AI, not just a score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58952" y="4700016"/>
            <a:ext cx="44988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 probability (e.g. 85% churn risk), the system surfaces a strategic recommendation — e.g. 'Auto-renew disabled → send a 15% discount offer.'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41848" y="3785616"/>
            <a:ext cx="5010912" cy="1965960"/>
          </a:xfrm>
          <a:prstGeom prst="roundRect">
            <a:avLst>
              <a:gd name="adj" fmla="val 3721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70448" y="4014216"/>
            <a:ext cx="548640" cy="548640"/>
          </a:xfrm>
          <a:prstGeom prst="ellipse">
            <a:avLst/>
          </a:prstGeom>
          <a:solidFill>
            <a:srgbClr val="A855F7">
              <a:alpha val="18000"/>
            </a:srgbClr>
          </a:solidFill>
          <a:ln w="15875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0448" y="40142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</a:t>
            </a:r>
            <a:endParaRPr lang="en-US" sz="2040" dirty="0"/>
          </a:p>
        </p:txBody>
      </p:sp>
      <p:sp>
        <p:nvSpPr>
          <p:cNvPr id="23" name="Text 21"/>
          <p:cNvSpPr/>
          <p:nvPr/>
        </p:nvSpPr>
        <p:spPr>
          <a:xfrm>
            <a:off x="6556248" y="4041648"/>
            <a:ext cx="3867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Cloud-Agnostic Containerization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897880" y="4700016"/>
            <a:ext cx="44988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application is packaged with Docker, running flawlessly on AWS, GCP, Azure, or any local machine.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064240" y="65105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Retrospective &amp; Business ROI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worked, what it's worth, and what's next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13411"/>
            <a:ext cx="7028398" cy="4410891"/>
          </a:xfrm>
          <a:prstGeom prst="roundRect">
            <a:avLst>
              <a:gd name="adj" fmla="val 1667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A7"/>
                </a:solidFill>
                <a:latin typeface="Calibri"/>
                <a:ea typeface="Calibri"/>
                <a:cs typeface="Calibri"/>
              </a:rPr>
              <a:t>  What Went Well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480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handled extreme class imbalance (6.39% churn) using LightGBM with is_unbalance=True.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95.6% Recall — directly addressing the business goal of catching as many churners as possible.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a production-ready Streamlit app usable by non-technical Marketing and CRM teams, not just a notebook.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fully reproducible, Dockerized pipeline that runs identically across environments.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4160520"/>
            <a:ext cx="4480560" cy="0"/>
          </a:xfrm>
          <a:prstGeom prst="line">
            <a:avLst/>
          </a:prstGeom>
          <a:noFill/>
          <a:ln w="12700">
            <a:solidFill>
              <a:srgbClr val="2B3F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  Financial Impact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461772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accurately predicted churner saves the company an estimated $10–15 per month in recurring revenue when retained.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5349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77240" y="58521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churners identified before they leave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064240" y="65105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 production-ready churn prediction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319272" cy="1783080"/>
          </a:xfrm>
          <a:prstGeom prst="roundRect">
            <a:avLst>
              <a:gd name="adj" fmla="val 4103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8660" y="1696212"/>
            <a:ext cx="502920" cy="502920"/>
          </a:xfrm>
          <a:prstGeom prst="ellipse">
            <a:avLst/>
          </a:prstGeom>
          <a:solidFill>
            <a:srgbClr val="00C9A7">
              <a:alpha val="18000"/>
            </a:srgbClr>
          </a:solidFill>
          <a:ln w="15875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8660" y="16962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870" dirty="0"/>
          </a:p>
        </p:txBody>
      </p:sp>
      <p:sp>
        <p:nvSpPr>
          <p:cNvPr id="7" name="Text 5"/>
          <p:cNvSpPr/>
          <p:nvPr/>
        </p:nvSpPr>
        <p:spPr>
          <a:xfrm>
            <a:off x="704088" y="2313432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088" y="2624328"/>
            <a:ext cx="29169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410M+ log records and 22.9M transactions across multiple versioned files using memory-safe chunked pipelines.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50208" y="1508760"/>
            <a:ext cx="3319272" cy="1783080"/>
          </a:xfrm>
          <a:prstGeom prst="roundRect">
            <a:avLst>
              <a:gd name="adj" fmla="val 4103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55948" y="1696212"/>
            <a:ext cx="502920" cy="502920"/>
          </a:xfrm>
          <a:prstGeom prst="ellipse">
            <a:avLst/>
          </a:prstGeom>
          <a:solidFill>
            <a:srgbClr val="4FC3F7">
              <a:alpha val="18000"/>
            </a:srgbClr>
          </a:solidFill>
          <a:ln w="15875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55948" y="16962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</a:t>
            </a:r>
            <a:endParaRPr lang="en-US" sz="1870" dirty="0"/>
          </a:p>
        </p:txBody>
      </p:sp>
      <p:sp>
        <p:nvSpPr>
          <p:cNvPr id="12" name="Text 10"/>
          <p:cNvSpPr/>
          <p:nvPr/>
        </p:nvSpPr>
        <p:spPr>
          <a:xfrm>
            <a:off x="4151376" y="2313432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51376" y="2624328"/>
            <a:ext cx="29169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extreme outliers, impossible values, 65–67% missing demographics, and critical date inconsistencies.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97496" y="1508760"/>
            <a:ext cx="3319272" cy="1783080"/>
          </a:xfrm>
          <a:prstGeom prst="roundRect">
            <a:avLst>
              <a:gd name="adj" fmla="val 4103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03236" y="1696212"/>
            <a:ext cx="502920" cy="502920"/>
          </a:xfrm>
          <a:prstGeom prst="ellipse">
            <a:avLst/>
          </a:prstGeom>
          <a:solidFill>
            <a:srgbClr val="A855F7">
              <a:alpha val="18000"/>
            </a:srgbClr>
          </a:solidFill>
          <a:ln w="15875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03236" y="16962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870" dirty="0"/>
          </a:p>
        </p:txBody>
      </p:sp>
      <p:sp>
        <p:nvSpPr>
          <p:cNvPr id="17" name="Text 15"/>
          <p:cNvSpPr/>
          <p:nvPr/>
        </p:nvSpPr>
        <p:spPr>
          <a:xfrm>
            <a:off x="7598664" y="2313432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98664" y="2624328"/>
            <a:ext cx="29169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time-windowed behavioral features (15d, 30d), engagement trends, replay rates, and subscription tenure signals.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419856"/>
            <a:ext cx="3319272" cy="1783080"/>
          </a:xfrm>
          <a:prstGeom prst="roundRect">
            <a:avLst>
              <a:gd name="adj" fmla="val 4103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8660" y="3607308"/>
            <a:ext cx="502920" cy="502920"/>
          </a:xfrm>
          <a:prstGeom prst="ellipse">
            <a:avLst/>
          </a:prstGeom>
          <a:solidFill>
            <a:srgbClr val="FFD166">
              <a:alpha val="18000"/>
            </a:srgbClr>
          </a:solidFill>
          <a:ln w="15875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" y="36073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1870" dirty="0"/>
          </a:p>
        </p:txBody>
      </p:sp>
      <p:sp>
        <p:nvSpPr>
          <p:cNvPr id="22" name="Text 20"/>
          <p:cNvSpPr/>
          <p:nvPr/>
        </p:nvSpPr>
        <p:spPr>
          <a:xfrm>
            <a:off x="704088" y="4224528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Model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" y="4535424"/>
            <a:ext cx="29169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(Tuned): ROC-AUC 99.26%, Recall 95.6% — identifies 19 out of 20 churners before they leave.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50208" y="3419856"/>
            <a:ext cx="3319272" cy="1783080"/>
          </a:xfrm>
          <a:prstGeom prst="roundRect">
            <a:avLst>
              <a:gd name="adj" fmla="val 4103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55948" y="3607308"/>
            <a:ext cx="502920" cy="502920"/>
          </a:xfrm>
          <a:prstGeom prst="ellipse">
            <a:avLst/>
          </a:prstGeom>
          <a:solidFill>
            <a:srgbClr val="00C9A7">
              <a:alpha val="18000"/>
            </a:srgbClr>
          </a:solidFill>
          <a:ln w="15875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55948" y="36073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870" dirty="0"/>
          </a:p>
        </p:txBody>
      </p:sp>
      <p:sp>
        <p:nvSpPr>
          <p:cNvPr id="27" name="Text 25"/>
          <p:cNvSpPr/>
          <p:nvPr/>
        </p:nvSpPr>
        <p:spPr>
          <a:xfrm>
            <a:off x="4151376" y="4224528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51376" y="4535424"/>
            <a:ext cx="29169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5-page Streamlit dashboard with single &amp; batch prediction, Dockerized for AWS, GCP, Azure, or local use.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97496" y="3419856"/>
            <a:ext cx="3319272" cy="1783080"/>
          </a:xfrm>
          <a:prstGeom prst="roundRect">
            <a:avLst>
              <a:gd name="adj" fmla="val 4103"/>
            </a:avLst>
          </a:prstGeom>
          <a:solidFill>
            <a:srgbClr val="1B2E45"/>
          </a:solidFill>
          <a:ln w="12700">
            <a:solidFill>
              <a:srgbClr val="2B3F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03236" y="3607308"/>
            <a:ext cx="502920" cy="502920"/>
          </a:xfrm>
          <a:prstGeom prst="ellipse">
            <a:avLst/>
          </a:prstGeom>
          <a:solidFill>
            <a:srgbClr val="4FC3F7">
              <a:alpha val="18000"/>
            </a:srgbClr>
          </a:solidFill>
          <a:ln w="15875">
            <a:solidFill>
              <a:srgbClr val="4FC3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03236" y="36073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870" dirty="0"/>
          </a:p>
        </p:txBody>
      </p:sp>
      <p:sp>
        <p:nvSpPr>
          <p:cNvPr id="32" name="Text 30"/>
          <p:cNvSpPr/>
          <p:nvPr/>
        </p:nvSpPr>
        <p:spPr>
          <a:xfrm>
            <a:off x="7598664" y="4224528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598664" y="4535424"/>
            <a:ext cx="29169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proactive retention — 5–7× cheaper than acquisition — with personalized discounts and playlist recommendations.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525780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+ Scale + Business Alignment — End-to-End CRISP-DM Churn Prediction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064240" y="65105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39</cp:revision>
  <dcterms:created xsi:type="dcterms:W3CDTF">2026-07-10T17:52:21Z</dcterms:created>
  <dcterms:modified xsi:type="dcterms:W3CDTF">2026-07-10T18:59:46Z</dcterms:modified>
</cp:coreProperties>
</file>